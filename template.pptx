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9" r:id="rId5"/>
    <p:sldId id="261" r:id="rId6"/>
    <p:sldId id="268" r:id="rId7"/>
  </p:sldIdLst>
  <p:sldSz cx="12192000" cy="6858000"/>
  <p:notesSz cx="6858000" cy="9144000"/>
  <p:embeddedFontLst>
    <p:embeddedFont>
      <p:font typeface="Tajawal" panose="020B0604020202020204" charset="-78"/>
      <p:regular r:id="rId9"/>
      <p:bold r:id="rId10"/>
    </p:embeddedFont>
    <p:embeddedFont>
      <p:font typeface="Trebuchet MS" panose="020B0603020202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8A02682-77A7-4563-A3A8-54C3884602DB}" styleName="Table_0">
    <a:wholeTbl>
      <a:tcTxStyle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C1B197-DEC9-4D98-AAFD-5469BE97BADC}" styleName="Table_1">
    <a:wholeTbl>
      <a:tcTxStyle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2D7A47C-54EC-4B63-ACB2-89C50856C04E}" styleName="Table_2">
    <a:wholeTbl>
      <a:tcTxStyle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Style>
        <a:tcBdr/>
        <a:fill>
          <a:solidFill>
            <a:srgbClr val="CDD4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DD4EA"/>
          </a:solidFill>
        </a:fill>
      </a:tcStyle>
    </a:band1V>
    <a:band2V>
      <a:tcStyle>
        <a:tcBdr/>
      </a:tcStyle>
    </a:band2V>
    <a:lastCol>
      <a:tcTxStyle b="on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D7A107A-0294-458C-AFAA-D2AF648AF005}" styleName="Table_3">
    <a:wholeTbl>
      <a:tcTxStyle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910" autoAdjust="0"/>
  </p:normalViewPr>
  <p:slideViewPr>
    <p:cSldViewPr snapToGrid="0">
      <p:cViewPr varScale="1">
        <p:scale>
          <a:sx n="51" d="100"/>
          <a:sy n="51" d="100"/>
        </p:scale>
        <p:origin x="123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815491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2100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501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8700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D425495-7DA2-F7CF-786D-757EBAA1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9698EF7A-D9DD-E0CF-32DE-3E9AA33F4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919420B-0CC0-6410-4744-95D1D3635F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7263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754f2969e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3f754f2969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5369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8602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x.com/KristijanJvnrq" TargetMode="External"/><Relationship Id="rId13" Type="http://schemas.openxmlformats.org/officeDocument/2006/relationships/hyperlink" Target="https://x.com/jovanaa90a" TargetMode="External"/><Relationship Id="rId3" Type="http://schemas.openxmlformats.org/officeDocument/2006/relationships/hyperlink" Target="https://x.com/ivanristic5b9q" TargetMode="External"/><Relationship Id="rId7" Type="http://schemas.openxmlformats.org/officeDocument/2006/relationships/hyperlink" Target="https://x.com/BojanaBabic78" TargetMode="External"/><Relationship Id="rId12" Type="http://schemas.openxmlformats.org/officeDocument/2006/relationships/hyperlink" Target="https://x.com/stefankos88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s://x.com/BriarCallo9jc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x.com/MilenaVukovic09" TargetMode="External"/><Relationship Id="rId11" Type="http://schemas.openxmlformats.org/officeDocument/2006/relationships/hyperlink" Target="https://x.com/dusansimic90" TargetMode="External"/><Relationship Id="rId5" Type="http://schemas.openxmlformats.org/officeDocument/2006/relationships/hyperlink" Target="https://x.com/JovanLukacf" TargetMode="External"/><Relationship Id="rId15" Type="http://schemas.openxmlformats.org/officeDocument/2006/relationships/hyperlink" Target="https://x.com/SloaneMercchv" TargetMode="External"/><Relationship Id="rId10" Type="http://schemas.openxmlformats.org/officeDocument/2006/relationships/hyperlink" Target="https://x.com/milaantic7p" TargetMode="External"/><Relationship Id="rId4" Type="http://schemas.openxmlformats.org/officeDocument/2006/relationships/hyperlink" Target="https://x.com/Tijanalazic09" TargetMode="External"/><Relationship Id="rId9" Type="http://schemas.openxmlformats.org/officeDocument/2006/relationships/hyperlink" Target="https://x.com/filip52o4" TargetMode="External"/><Relationship Id="rId14" Type="http://schemas.openxmlformats.org/officeDocument/2006/relationships/hyperlink" Target="https://x.com/anai2gt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x.com/AmandaMartmqan" TargetMode="External"/><Relationship Id="rId13" Type="http://schemas.openxmlformats.org/officeDocument/2006/relationships/hyperlink" Target="https://x.com/majalazic7890" TargetMode="External"/><Relationship Id="rId3" Type="http://schemas.openxmlformats.org/officeDocument/2006/relationships/hyperlink" Target="https://x.com/LaurelBecktw" TargetMode="External"/><Relationship Id="rId7" Type="http://schemas.openxmlformats.org/officeDocument/2006/relationships/hyperlink" Target="https://x.com/DanielJoneepgl" TargetMode="External"/><Relationship Id="rId12" Type="http://schemas.openxmlformats.org/officeDocument/2006/relationships/hyperlink" Target="https://x.com/dunjaj7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x.com/ArthurRogeco" TargetMode="External"/><Relationship Id="rId11" Type="http://schemas.openxmlformats.org/officeDocument/2006/relationships/hyperlink" Target="https://x.com/kostic5wif" TargetMode="External"/><Relationship Id="rId5" Type="http://schemas.openxmlformats.org/officeDocument/2006/relationships/hyperlink" Target="https://x.com/MatthewThods" TargetMode="External"/><Relationship Id="rId10" Type="http://schemas.openxmlformats.org/officeDocument/2006/relationships/hyperlink" Target="https://x.com/WilliamJohrp" TargetMode="External"/><Relationship Id="rId4" Type="http://schemas.openxmlformats.org/officeDocument/2006/relationships/hyperlink" Target="https://x.com/MarloweQuijq1" TargetMode="External"/><Relationship Id="rId9" Type="http://schemas.openxmlformats.org/officeDocument/2006/relationships/hyperlink" Target="https://x.com/JamesCartevq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ctrTitle"/>
          </p:nvPr>
        </p:nvSpPr>
        <p:spPr>
          <a:xfrm>
            <a:off x="1524000" y="1364357"/>
            <a:ext cx="9651900" cy="21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sz="3600" dirty="0"/>
              <a:t>PROJECT NAME: </a:t>
            </a:r>
            <a:r>
              <a:rPr lang="en-PH" altLang="en-US" sz="3600" dirty="0"/>
              <a:t>Europe</a:t>
            </a:r>
            <a:br>
              <a:rPr lang="en-US" sz="3600" dirty="0"/>
            </a:br>
            <a:r>
              <a:rPr lang="en-US" sz="3600" dirty="0"/>
              <a:t>PROJECT LOCATION: </a:t>
            </a:r>
            <a:r>
              <a:rPr lang="en-PH" altLang="en-US" sz="3600" dirty="0"/>
              <a:t>Serbia</a:t>
            </a:r>
            <a:endParaRPr sz="3600" dirty="0"/>
          </a:p>
        </p:txBody>
      </p:sp>
      <p:sp>
        <p:nvSpPr>
          <p:cNvPr id="163" name="Google Shape;163;p25"/>
          <p:cNvSpPr txBox="1">
            <a:spLocks noGrp="1"/>
          </p:cNvSpPr>
          <p:nvPr>
            <p:ph type="subTitle" idx="1"/>
          </p:nvPr>
        </p:nvSpPr>
        <p:spPr>
          <a:xfrm>
            <a:off x="1524000" y="5114018"/>
            <a:ext cx="9144000" cy="62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Weekly Performance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1021648" y="377371"/>
            <a:ext cx="7788523" cy="65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Achievement Summary: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69" name="Google Shape;169;p26"/>
          <p:cNvGraphicFramePr/>
          <p:nvPr>
            <p:extLst>
              <p:ext uri="{D42A27DB-BD31-4B8C-83A1-F6EECF244321}">
                <p14:modId xmlns:p14="http://schemas.microsoft.com/office/powerpoint/2010/main" val="2603966347"/>
              </p:ext>
            </p:extLst>
          </p:nvPr>
        </p:nvGraphicFramePr>
        <p:xfrm>
          <a:off x="1041691" y="1760813"/>
          <a:ext cx="1314450" cy="1562100"/>
        </p:xfrm>
        <a:graphic>
          <a:graphicData uri="http://schemas.openxmlformats.org/drawingml/2006/table">
            <a:tbl>
              <a:tblPr bandRow="1">
                <a:noFill/>
                <a:tableStyleId>{78A02682-77A7-4563-A3A8-54C3884602DB}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Total no of Accounts</a:t>
                      </a:r>
                      <a:endParaRPr sz="1400" b="1" u="none" strike="noStrike" cap="none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US" sz="1400" u="none" strike="noStrike" cap="none" dirty="0"/>
                        <a:t>25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0" name="Google Shape;170;p26"/>
          <p:cNvGraphicFramePr/>
          <p:nvPr>
            <p:extLst>
              <p:ext uri="{D42A27DB-BD31-4B8C-83A1-F6EECF244321}">
                <p14:modId xmlns:p14="http://schemas.microsoft.com/office/powerpoint/2010/main" val="2340406811"/>
              </p:ext>
            </p:extLst>
          </p:nvPr>
        </p:nvGraphicFramePr>
        <p:xfrm>
          <a:off x="4588705" y="1760813"/>
          <a:ext cx="1314450" cy="1562100"/>
        </p:xfrm>
        <a:graphic>
          <a:graphicData uri="http://schemas.openxmlformats.org/drawingml/2006/table">
            <a:tbl>
              <a:tblPr bandRow="1">
                <a:noFill/>
                <a:tableStyleId>{78A02682-77A7-4563-A3A8-54C3884602DB}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Total 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Reach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US" sz="1400" u="none" strike="noStrike" cap="none" dirty="0"/>
                        <a:t>5526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1" name="Google Shape;171;p26"/>
          <p:cNvGraphicFramePr/>
          <p:nvPr>
            <p:extLst>
              <p:ext uri="{D42A27DB-BD31-4B8C-83A1-F6EECF244321}">
                <p14:modId xmlns:p14="http://schemas.microsoft.com/office/powerpoint/2010/main" val="2379368347"/>
              </p:ext>
            </p:extLst>
          </p:nvPr>
        </p:nvGraphicFramePr>
        <p:xfrm>
          <a:off x="6365337" y="1760813"/>
          <a:ext cx="1314450" cy="1562100"/>
        </p:xfrm>
        <a:graphic>
          <a:graphicData uri="http://schemas.openxmlformats.org/drawingml/2006/table">
            <a:tbl>
              <a:tblPr bandRow="1">
                <a:noFill/>
                <a:tableStyleId>{78A02682-77A7-4563-A3A8-54C3884602DB}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Total 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Likes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US" sz="1400" u="none" strike="noStrike" cap="none" dirty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41</a:t>
                      </a:r>
                      <a:endParaRPr sz="1400" u="none" strike="noStrike" cap="none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2" name="Google Shape;172;p26"/>
          <p:cNvGraphicFramePr/>
          <p:nvPr>
            <p:extLst>
              <p:ext uri="{D42A27DB-BD31-4B8C-83A1-F6EECF244321}">
                <p14:modId xmlns:p14="http://schemas.microsoft.com/office/powerpoint/2010/main" val="651716746"/>
              </p:ext>
            </p:extLst>
          </p:nvPr>
        </p:nvGraphicFramePr>
        <p:xfrm>
          <a:off x="2745909" y="1760813"/>
          <a:ext cx="1380625" cy="1562100"/>
        </p:xfrm>
        <a:graphic>
          <a:graphicData uri="http://schemas.openxmlformats.org/drawingml/2006/table">
            <a:tbl>
              <a:tblPr bandRow="1">
                <a:noFill/>
                <a:tableStyleId>{78A02682-77A7-4563-A3A8-54C3884602DB}</a:tableStyleId>
              </a:tblPr>
              <a:tblGrid>
                <a:gridCol w="138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Total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Posts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US" sz="1400" u="none" strike="noStrike" cap="none" dirty="0"/>
                        <a:t>307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3" name="Google Shape;173;p26"/>
          <p:cNvGraphicFramePr/>
          <p:nvPr>
            <p:extLst>
              <p:ext uri="{D42A27DB-BD31-4B8C-83A1-F6EECF244321}">
                <p14:modId xmlns:p14="http://schemas.microsoft.com/office/powerpoint/2010/main" val="1853105782"/>
              </p:ext>
            </p:extLst>
          </p:nvPr>
        </p:nvGraphicFramePr>
        <p:xfrm>
          <a:off x="1021648" y="3682952"/>
          <a:ext cx="1314450" cy="1562100"/>
        </p:xfrm>
        <a:graphic>
          <a:graphicData uri="http://schemas.openxmlformats.org/drawingml/2006/table">
            <a:tbl>
              <a:tblPr bandRow="1">
                <a:noFill/>
                <a:tableStyleId>{78A02682-77A7-4563-A3A8-54C3884602DB}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Total 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Video views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US" sz="1400" u="none" strike="noStrike" cap="none" dirty="0">
                          <a:latin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000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4" name="Google Shape;174;p26"/>
          <p:cNvGraphicFramePr/>
          <p:nvPr>
            <p:extLst>
              <p:ext uri="{D42A27DB-BD31-4B8C-83A1-F6EECF244321}">
                <p14:modId xmlns:p14="http://schemas.microsoft.com/office/powerpoint/2010/main" val="4099423647"/>
              </p:ext>
            </p:extLst>
          </p:nvPr>
        </p:nvGraphicFramePr>
        <p:xfrm>
          <a:off x="8141969" y="1760813"/>
          <a:ext cx="1314450" cy="1562100"/>
        </p:xfrm>
        <a:graphic>
          <a:graphicData uri="http://schemas.openxmlformats.org/drawingml/2006/table">
            <a:tbl>
              <a:tblPr bandRow="1">
                <a:noFill/>
                <a:tableStyleId>{78A02682-77A7-4563-A3A8-54C3884602DB}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Total </a:t>
                      </a: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Friends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US" sz="1400" u="none" strike="noStrike" cap="none" dirty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65</a:t>
                      </a:r>
                      <a:endParaRPr sz="1400" u="none" strike="noStrike" cap="none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5" name="Google Shape;175;p26"/>
          <p:cNvGraphicFramePr/>
          <p:nvPr>
            <p:extLst>
              <p:ext uri="{D42A27DB-BD31-4B8C-83A1-F6EECF244321}">
                <p14:modId xmlns:p14="http://schemas.microsoft.com/office/powerpoint/2010/main" val="2911915295"/>
              </p:ext>
            </p:extLst>
          </p:nvPr>
        </p:nvGraphicFramePr>
        <p:xfrm>
          <a:off x="9918601" y="1760813"/>
          <a:ext cx="1314450" cy="1562100"/>
        </p:xfrm>
        <a:graphic>
          <a:graphicData uri="http://schemas.openxmlformats.org/drawingml/2006/table">
            <a:tbl>
              <a:tblPr bandRow="1">
                <a:noFill/>
                <a:tableStyleId>{78A02682-77A7-4563-A3A8-54C3884602DB}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Total Comments</a:t>
                      </a:r>
                      <a:endParaRPr sz="1400" b="0" u="none" strike="noStrike" cap="none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US" sz="1400" u="none" strike="noStrike" cap="none" dirty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</a:t>
                      </a:r>
                      <a:endParaRPr sz="1400" u="none" strike="noStrike" cap="none" dirty="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6" name="Google Shape;176;p26"/>
          <p:cNvGraphicFramePr/>
          <p:nvPr>
            <p:extLst>
              <p:ext uri="{D42A27DB-BD31-4B8C-83A1-F6EECF244321}">
                <p14:modId xmlns:p14="http://schemas.microsoft.com/office/powerpoint/2010/main" val="1387449091"/>
              </p:ext>
            </p:extLst>
          </p:nvPr>
        </p:nvGraphicFramePr>
        <p:xfrm>
          <a:off x="2778991" y="3682938"/>
          <a:ext cx="1314450" cy="1655138"/>
        </p:xfrm>
        <a:graphic>
          <a:graphicData uri="http://schemas.openxmlformats.org/drawingml/2006/table">
            <a:tbl>
              <a:tblPr bandRow="1">
                <a:noFill/>
                <a:tableStyleId>{78A02682-77A7-4563-A3A8-54C3884602DB}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Total no of </a:t>
                      </a: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Groups Joined</a:t>
                      </a:r>
                      <a:endParaRPr sz="1400" b="1" u="none" strike="noStrike" cap="none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US" sz="1400" u="none" strike="noStrike" cap="none" dirty="0"/>
                        <a:t>000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404262" y="975227"/>
            <a:ext cx="9668887" cy="53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endParaRPr sz="1600" b="1" i="0" u="none" strike="noStrike" cap="none">
              <a:solidFill>
                <a:srgbClr val="000000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</p:txBody>
      </p:sp>
      <p:graphicFrame>
        <p:nvGraphicFramePr>
          <p:cNvPr id="112" name="Google Shape;112;p15"/>
          <p:cNvGraphicFramePr/>
          <p:nvPr>
            <p:extLst>
              <p:ext uri="{D42A27DB-BD31-4B8C-83A1-F6EECF244321}">
                <p14:modId xmlns:p14="http://schemas.microsoft.com/office/powerpoint/2010/main" val="2050724397"/>
              </p:ext>
            </p:extLst>
          </p:nvPr>
        </p:nvGraphicFramePr>
        <p:xfrm>
          <a:off x="404262" y="1075614"/>
          <a:ext cx="11383475" cy="481013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64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 dirty="0"/>
                        <a:t>PROFILE URL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Followers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Initial</a:t>
                      </a:r>
                      <a:endParaRPr sz="1100" b="1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Followers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Now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Total Reach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Total Posts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 dirty="0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3"/>
                        </a:rPr>
                        <a:t>https://x.com/ivanristic5b9q</a:t>
                      </a:r>
                      <a:endParaRPr lang="en-US" sz="1400" u="sng" dirty="0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8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2206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21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2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4"/>
                        </a:rPr>
                        <a:t>https://x.com/Tijanalazic09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7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9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443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21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47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5"/>
                        </a:rPr>
                        <a:t>https://x.com/JovanLukacf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396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18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6"/>
                        </a:rPr>
                        <a:t>https://x.com/MilenaVukovic09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105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15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7"/>
                        </a:rPr>
                        <a:t>https://x.com/BojanaBabic78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88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15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8"/>
                        </a:rPr>
                        <a:t>https://x.com/KristijanJvnrq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84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9"/>
                        </a:rPr>
                        <a:t>https://x.com/filip52o4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298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9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0"/>
                        </a:rPr>
                        <a:t>https://x.com/milaantic7p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309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1"/>
                        </a:rPr>
                        <a:t>https://x.com/dusansimic90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47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2"/>
                        </a:rPr>
                        <a:t>https://x.com/stefankos88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110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15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3"/>
                        </a:rPr>
                        <a:t>https://x.com/jovanaa90a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55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13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4"/>
                        </a:rPr>
                        <a:t>https://x.com/anai2gt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29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9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u="sng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5"/>
                        </a:rPr>
                        <a:t>https://x.com/SloaneMercchv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4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8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119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12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 dirty="0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6"/>
                        </a:rPr>
                        <a:t>https://x.com/BriarCallo9jc</a:t>
                      </a:r>
                      <a:endParaRPr lang="en-US" sz="1400" u="sng" dirty="0">
                        <a:solidFill>
                          <a:srgbClr val="1155C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323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12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Google Shape;504;p70">
            <a:extLst>
              <a:ext uri="{FF2B5EF4-FFF2-40B4-BE49-F238E27FC236}">
                <a16:creationId xmlns:a16="http://schemas.microsoft.com/office/drawing/2014/main" id="{B3791D58-34E2-2049-1EB2-B59D4900DB74}"/>
              </a:ext>
            </a:extLst>
          </p:cNvPr>
          <p:cNvSpPr/>
          <p:nvPr/>
        </p:nvSpPr>
        <p:spPr>
          <a:xfrm>
            <a:off x="9466920" y="327913"/>
            <a:ext cx="2320200" cy="468720"/>
          </a:xfrm>
          <a:custGeom>
            <a:avLst/>
            <a:gdLst/>
            <a:ahLst/>
            <a:cxnLst/>
            <a:rect l="l" t="t" r="r" b="b"/>
            <a:pathLst>
              <a:path w="2320925" h="469265" extrusionOk="0">
                <a:moveTo>
                  <a:pt x="153720" y="0"/>
                </a:moveTo>
                <a:lnTo>
                  <a:pt x="114026" y="5265"/>
                </a:lnTo>
                <a:lnTo>
                  <a:pt x="77038" y="20523"/>
                </a:lnTo>
                <a:lnTo>
                  <a:pt x="45177" y="44959"/>
                </a:lnTo>
                <a:lnTo>
                  <a:pt x="20878" y="76682"/>
                </a:lnTo>
                <a:lnTo>
                  <a:pt x="5621" y="113676"/>
                </a:lnTo>
                <a:lnTo>
                  <a:pt x="355" y="153365"/>
                </a:lnTo>
                <a:lnTo>
                  <a:pt x="0" y="315722"/>
                </a:lnTo>
                <a:lnTo>
                  <a:pt x="1333" y="335802"/>
                </a:lnTo>
                <a:lnTo>
                  <a:pt x="11696" y="374345"/>
                </a:lnTo>
                <a:lnTo>
                  <a:pt x="31776" y="409175"/>
                </a:lnTo>
                <a:lnTo>
                  <a:pt x="59956" y="437458"/>
                </a:lnTo>
                <a:lnTo>
                  <a:pt x="94734" y="457391"/>
                </a:lnTo>
                <a:lnTo>
                  <a:pt x="133271" y="467753"/>
                </a:lnTo>
                <a:lnTo>
                  <a:pt x="153352" y="469087"/>
                </a:lnTo>
                <a:lnTo>
                  <a:pt x="2167191" y="469087"/>
                </a:lnTo>
                <a:lnTo>
                  <a:pt x="2206885" y="463821"/>
                </a:lnTo>
                <a:lnTo>
                  <a:pt x="2243874" y="448564"/>
                </a:lnTo>
                <a:lnTo>
                  <a:pt x="2275735" y="424127"/>
                </a:lnTo>
                <a:lnTo>
                  <a:pt x="2300033" y="392404"/>
                </a:lnTo>
                <a:lnTo>
                  <a:pt x="2315290" y="355411"/>
                </a:lnTo>
                <a:lnTo>
                  <a:pt x="2320556" y="315722"/>
                </a:lnTo>
                <a:lnTo>
                  <a:pt x="2320533" y="153365"/>
                </a:lnTo>
                <a:lnTo>
                  <a:pt x="2315290" y="114031"/>
                </a:lnTo>
                <a:lnTo>
                  <a:pt x="2300033" y="77038"/>
                </a:lnTo>
                <a:lnTo>
                  <a:pt x="2275601" y="45181"/>
                </a:lnTo>
                <a:lnTo>
                  <a:pt x="2243874" y="20878"/>
                </a:lnTo>
                <a:lnTo>
                  <a:pt x="2206885" y="5632"/>
                </a:lnTo>
                <a:lnTo>
                  <a:pt x="2167191" y="368"/>
                </a:lnTo>
                <a:lnTo>
                  <a:pt x="153720" y="0"/>
                </a:lnTo>
                <a:close/>
              </a:path>
            </a:pathLst>
          </a:custGeom>
          <a:solidFill>
            <a:srgbClr val="A3884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Google Shape;505;p70">
            <a:extLst>
              <a:ext uri="{FF2B5EF4-FFF2-40B4-BE49-F238E27FC236}">
                <a16:creationId xmlns:a16="http://schemas.microsoft.com/office/drawing/2014/main" id="{5FE76499-1044-C0DC-FCE2-F4C921A58B48}"/>
              </a:ext>
            </a:extLst>
          </p:cNvPr>
          <p:cNvSpPr/>
          <p:nvPr/>
        </p:nvSpPr>
        <p:spPr>
          <a:xfrm>
            <a:off x="9649440" y="329040"/>
            <a:ext cx="2320200" cy="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600" rIns="0" bIns="0" anchor="t" anchorCtr="0">
            <a:noAutofit/>
          </a:bodyPr>
          <a:lstStyle/>
          <a:p>
            <a:pPr marL="12600" marR="0" lvl="0" indent="0" algn="l" rtl="0">
              <a:lnSpc>
                <a:spcPct val="12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MONTH: Oct </a:t>
            </a:r>
            <a:r>
              <a:rPr lang="en-US" sz="20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83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9F518CE-E95B-7938-68F1-77266E84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3E16A8F8-FFAE-F067-F8E7-F94939B3336C}"/>
              </a:ext>
            </a:extLst>
          </p:cNvPr>
          <p:cNvSpPr txBox="1"/>
          <p:nvPr/>
        </p:nvSpPr>
        <p:spPr>
          <a:xfrm>
            <a:off x="404262" y="975227"/>
            <a:ext cx="9668887" cy="53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endParaRPr sz="1600" b="1" i="0" u="none" strike="noStrike" cap="none">
              <a:solidFill>
                <a:srgbClr val="000000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</p:txBody>
      </p:sp>
      <p:graphicFrame>
        <p:nvGraphicFramePr>
          <p:cNvPr id="112" name="Google Shape;112;p15">
            <a:extLst>
              <a:ext uri="{FF2B5EF4-FFF2-40B4-BE49-F238E27FC236}">
                <a16:creationId xmlns:a16="http://schemas.microsoft.com/office/drawing/2014/main" id="{95D4CC0D-AC9A-8A47-EC85-5943737B3A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4338424"/>
              </p:ext>
            </p:extLst>
          </p:nvPr>
        </p:nvGraphicFramePr>
        <p:xfrm>
          <a:off x="404262" y="1075614"/>
          <a:ext cx="11383475" cy="481013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64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 dirty="0"/>
                        <a:t>PROFILE URL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Followers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Initial</a:t>
                      </a:r>
                      <a:endParaRPr sz="1100" b="1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Followers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Now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Total Reach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US" sz="1100" b="1" u="none" strike="noStrike" cap="none"/>
                        <a:t>Total Posts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 dirty="0">
                          <a:solidFill>
                            <a:srgbClr val="1155CC"/>
                          </a:solidFill>
                          <a:effectLst/>
                          <a:latin typeface="+mn-lt"/>
                          <a:hlinkClick r:id="rId3"/>
                        </a:rPr>
                        <a:t>https://x.com/LaurelBecktw</a:t>
                      </a:r>
                      <a:endParaRPr lang="en-US" sz="1400" u="sng" dirty="0">
                        <a:solidFill>
                          <a:srgbClr val="1155CC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412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2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3C78D8"/>
                          </a:solidFill>
                          <a:effectLst/>
                          <a:latin typeface="+mn-lt"/>
                          <a:hlinkClick r:id="rId4"/>
                        </a:rPr>
                        <a:t>https://x.com/MarloweQuijq1</a:t>
                      </a:r>
                      <a:endParaRPr lang="en-US" sz="1400" u="sng">
                        <a:solidFill>
                          <a:srgbClr val="3C78D8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113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47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3C78D8"/>
                          </a:solidFill>
                          <a:effectLst/>
                          <a:latin typeface="+mn-lt"/>
                          <a:hlinkClick r:id="rId5"/>
                        </a:rPr>
                        <a:t>https://x.com/MatthewThods</a:t>
                      </a:r>
                      <a:endParaRPr lang="en-US" sz="1400" u="sng">
                        <a:solidFill>
                          <a:srgbClr val="3C78D8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47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15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3C78D8"/>
                          </a:solidFill>
                          <a:effectLst/>
                          <a:latin typeface="+mn-lt"/>
                          <a:hlinkClick r:id="rId6"/>
                        </a:rPr>
                        <a:t>https://x.com/ArthurRogeco</a:t>
                      </a:r>
                      <a:endParaRPr lang="en-US" sz="1400" u="sng">
                        <a:solidFill>
                          <a:srgbClr val="3C78D8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42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3C78D8"/>
                          </a:solidFill>
                          <a:effectLst/>
                          <a:latin typeface="+mn-lt"/>
                          <a:hlinkClick r:id="rId7"/>
                        </a:rPr>
                        <a:t>https://x.com/DanielJoneepgl</a:t>
                      </a:r>
                      <a:endParaRPr lang="en-US" sz="1400" u="sng">
                        <a:solidFill>
                          <a:srgbClr val="3C78D8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34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0" i="0" u="sng">
                          <a:solidFill>
                            <a:srgbClr val="3C78D8"/>
                          </a:solidFill>
                          <a:effectLst/>
                          <a:latin typeface="+mn-lt"/>
                          <a:hlinkClick r:id="rId8"/>
                        </a:rPr>
                        <a:t>https://x.com/AmandaMartmqan</a:t>
                      </a:r>
                      <a:endParaRPr lang="en-US" sz="1400" b="0" u="sng">
                        <a:solidFill>
                          <a:srgbClr val="3C78D8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53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18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3C78D8"/>
                          </a:solidFill>
                          <a:effectLst/>
                          <a:latin typeface="+mn-lt"/>
                          <a:hlinkClick r:id="rId9"/>
                        </a:rPr>
                        <a:t>https://x.com/JamesCartevq</a:t>
                      </a:r>
                      <a:endParaRPr lang="en-US" sz="1400" u="sng">
                        <a:solidFill>
                          <a:srgbClr val="3C78D8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23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i="0" u="sng">
                          <a:solidFill>
                            <a:srgbClr val="3C78D8"/>
                          </a:solidFill>
                          <a:effectLst/>
                          <a:latin typeface="+mn-lt"/>
                          <a:hlinkClick r:id="rId10"/>
                        </a:rPr>
                        <a:t>https://x.com/WilliamJohrp</a:t>
                      </a:r>
                      <a:endParaRPr lang="en-US" sz="1400" u="sng">
                        <a:solidFill>
                          <a:srgbClr val="3C78D8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30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9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u="sng">
                          <a:solidFill>
                            <a:srgbClr val="1155CC"/>
                          </a:solidFill>
                          <a:effectLst/>
                          <a:latin typeface="+mn-lt"/>
                          <a:hlinkClick r:id="rId11"/>
                        </a:rPr>
                        <a:t>https://x.com/kostic5wif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u="sng">
                          <a:solidFill>
                            <a:srgbClr val="1155CC"/>
                          </a:solidFill>
                          <a:effectLst/>
                          <a:latin typeface="+mn-lt"/>
                          <a:hlinkClick r:id="rId12"/>
                        </a:rPr>
                        <a:t>https://x.com/dunjaj78</a:t>
                      </a:r>
                      <a:endParaRPr lang="en-US" sz="1400" u="sng">
                        <a:solidFill>
                          <a:srgbClr val="1155CC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sz="1400" u="none" strike="noStrike" cap="none" dirty="0"/>
                        <a:t>2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u="sng" dirty="0">
                          <a:solidFill>
                            <a:srgbClr val="1155CC"/>
                          </a:solidFill>
                          <a:effectLst/>
                          <a:latin typeface="+mn-lt"/>
                          <a:hlinkClick r:id="rId13"/>
                        </a:rPr>
                        <a:t>https://x.com/majalazic7890</a:t>
                      </a:r>
                      <a:endParaRPr lang="en-US" sz="1400" u="sng" dirty="0">
                        <a:solidFill>
                          <a:srgbClr val="1155CC"/>
                        </a:solidFill>
                        <a:effectLst/>
                        <a:latin typeface="+mn-lt"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90204"/>
                        <a:buNone/>
                      </a:pPr>
                      <a:endParaRPr lang="en-US" sz="14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Google Shape;504;p70">
            <a:extLst>
              <a:ext uri="{FF2B5EF4-FFF2-40B4-BE49-F238E27FC236}">
                <a16:creationId xmlns:a16="http://schemas.microsoft.com/office/drawing/2014/main" id="{2A0B05F9-C026-A92E-0128-98DA472A8CB1}"/>
              </a:ext>
            </a:extLst>
          </p:cNvPr>
          <p:cNvSpPr/>
          <p:nvPr/>
        </p:nvSpPr>
        <p:spPr>
          <a:xfrm>
            <a:off x="9466920" y="327913"/>
            <a:ext cx="2320200" cy="468720"/>
          </a:xfrm>
          <a:custGeom>
            <a:avLst/>
            <a:gdLst/>
            <a:ahLst/>
            <a:cxnLst/>
            <a:rect l="l" t="t" r="r" b="b"/>
            <a:pathLst>
              <a:path w="2320925" h="469265" extrusionOk="0">
                <a:moveTo>
                  <a:pt x="153720" y="0"/>
                </a:moveTo>
                <a:lnTo>
                  <a:pt x="114026" y="5265"/>
                </a:lnTo>
                <a:lnTo>
                  <a:pt x="77038" y="20523"/>
                </a:lnTo>
                <a:lnTo>
                  <a:pt x="45177" y="44959"/>
                </a:lnTo>
                <a:lnTo>
                  <a:pt x="20878" y="76682"/>
                </a:lnTo>
                <a:lnTo>
                  <a:pt x="5621" y="113676"/>
                </a:lnTo>
                <a:lnTo>
                  <a:pt x="355" y="153365"/>
                </a:lnTo>
                <a:lnTo>
                  <a:pt x="0" y="315722"/>
                </a:lnTo>
                <a:lnTo>
                  <a:pt x="1333" y="335802"/>
                </a:lnTo>
                <a:lnTo>
                  <a:pt x="11696" y="374345"/>
                </a:lnTo>
                <a:lnTo>
                  <a:pt x="31776" y="409175"/>
                </a:lnTo>
                <a:lnTo>
                  <a:pt x="59956" y="437458"/>
                </a:lnTo>
                <a:lnTo>
                  <a:pt x="94734" y="457391"/>
                </a:lnTo>
                <a:lnTo>
                  <a:pt x="133271" y="467753"/>
                </a:lnTo>
                <a:lnTo>
                  <a:pt x="153352" y="469087"/>
                </a:lnTo>
                <a:lnTo>
                  <a:pt x="2167191" y="469087"/>
                </a:lnTo>
                <a:lnTo>
                  <a:pt x="2206885" y="463821"/>
                </a:lnTo>
                <a:lnTo>
                  <a:pt x="2243874" y="448564"/>
                </a:lnTo>
                <a:lnTo>
                  <a:pt x="2275735" y="424127"/>
                </a:lnTo>
                <a:lnTo>
                  <a:pt x="2300033" y="392404"/>
                </a:lnTo>
                <a:lnTo>
                  <a:pt x="2315290" y="355411"/>
                </a:lnTo>
                <a:lnTo>
                  <a:pt x="2320556" y="315722"/>
                </a:lnTo>
                <a:lnTo>
                  <a:pt x="2320533" y="153365"/>
                </a:lnTo>
                <a:lnTo>
                  <a:pt x="2315290" y="114031"/>
                </a:lnTo>
                <a:lnTo>
                  <a:pt x="2300033" y="77038"/>
                </a:lnTo>
                <a:lnTo>
                  <a:pt x="2275601" y="45181"/>
                </a:lnTo>
                <a:lnTo>
                  <a:pt x="2243874" y="20878"/>
                </a:lnTo>
                <a:lnTo>
                  <a:pt x="2206885" y="5632"/>
                </a:lnTo>
                <a:lnTo>
                  <a:pt x="2167191" y="368"/>
                </a:lnTo>
                <a:lnTo>
                  <a:pt x="153720" y="0"/>
                </a:lnTo>
                <a:close/>
              </a:path>
            </a:pathLst>
          </a:custGeom>
          <a:solidFill>
            <a:srgbClr val="A3884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Google Shape;505;p70">
            <a:extLst>
              <a:ext uri="{FF2B5EF4-FFF2-40B4-BE49-F238E27FC236}">
                <a16:creationId xmlns:a16="http://schemas.microsoft.com/office/drawing/2014/main" id="{D36622E6-65A4-E2EA-7057-FA1191701AEF}"/>
              </a:ext>
            </a:extLst>
          </p:cNvPr>
          <p:cNvSpPr/>
          <p:nvPr/>
        </p:nvSpPr>
        <p:spPr>
          <a:xfrm>
            <a:off x="9649440" y="329040"/>
            <a:ext cx="2320200" cy="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600" rIns="0" bIns="0" anchor="t" anchorCtr="0">
            <a:noAutofit/>
          </a:bodyPr>
          <a:lstStyle/>
          <a:p>
            <a:pPr marL="12600" marR="0" lvl="0" indent="0" algn="l" rtl="0">
              <a:lnSpc>
                <a:spcPct val="12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MONTH: Oct </a:t>
            </a:r>
            <a:r>
              <a:rPr lang="en-US" sz="20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920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2310037" y="207535"/>
            <a:ext cx="8152500" cy="468900"/>
          </a:xfrm>
          <a:prstGeom prst="roundRect">
            <a:avLst>
              <a:gd name="adj" fmla="val 32699"/>
            </a:avLst>
          </a:prstGeom>
          <a:solidFill>
            <a:srgbClr val="A489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4415824" y="223497"/>
            <a:ext cx="404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SCREENSHOTS OF ACHIEVEMENT</a:t>
            </a:r>
            <a:endParaRPr sz="2000" b="1" i="0" u="none" strike="noStrike" cap="none">
              <a:solidFill>
                <a:schemeClr val="lt1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295773" y="825911"/>
            <a:ext cx="11650500" cy="58086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EDEAE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872126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AABE32-76B0-EFAA-6320-C52D5D149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37" y="1175506"/>
            <a:ext cx="3296887" cy="3196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E6C1F8-06E2-D803-96D8-EB915A00E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881" y="919808"/>
            <a:ext cx="2169204" cy="33265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C0A38A-077C-963C-E15E-D2C809637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495" y="825911"/>
            <a:ext cx="2274540" cy="33265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7C9EB6-4F1D-580B-31A4-253DA1C69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908" y="4152426"/>
            <a:ext cx="1657279" cy="25434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484853-2503-C57B-58C9-4583C25528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165" y="4013411"/>
            <a:ext cx="1590159" cy="254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90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Google Shape;120;p16"/>
          <p:cNvSpPr txBox="1"/>
          <p:nvPr/>
        </p:nvSpPr>
        <p:spPr>
          <a:xfrm>
            <a:off x="4365787" y="207535"/>
            <a:ext cx="40410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Tajawal" panose="00000500000000000000"/>
                <a:ea typeface="Tajawal" panose="00000500000000000000"/>
                <a:cs typeface="Tajawal" panose="00000500000000000000"/>
                <a:sym typeface="Tajawal" panose="00000500000000000000"/>
              </a:rPr>
              <a:t>SCREENHOTS OF ACHIEVEMENT</a:t>
            </a:r>
            <a:endParaRPr sz="2000" b="1" i="0" u="none" strike="noStrike" cap="none" dirty="0">
              <a:solidFill>
                <a:schemeClr val="lt1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</p:txBody>
      </p:sp>
      <p:sp>
        <p:nvSpPr>
          <p:cNvPr id="1048600" name="Google Shape;121;p16"/>
          <p:cNvSpPr/>
          <p:nvPr/>
        </p:nvSpPr>
        <p:spPr>
          <a:xfrm>
            <a:off x="295773" y="310552"/>
            <a:ext cx="11650421" cy="632395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EDEAE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872126"/>
              </a:solidFill>
              <a:latin typeface="Tajawal" panose="00000500000000000000"/>
              <a:ea typeface="Tajawal" panose="00000500000000000000"/>
              <a:cs typeface="Tajawal" panose="00000500000000000000"/>
              <a:sym typeface="Tajawal" panose="00000500000000000000"/>
            </a:endParaRPr>
          </a:p>
        </p:txBody>
      </p:sp>
      <p:sp>
        <p:nvSpPr>
          <p:cNvPr id="23" name="Google Shape;123;g3ee72b57672_0_0"/>
          <p:cNvSpPr txBox="1">
            <a:spLocks noGrp="1"/>
          </p:cNvSpPr>
          <p:nvPr>
            <p:ph type="ctrTitle" idx="4294967295"/>
          </p:nvPr>
        </p:nvSpPr>
        <p:spPr>
          <a:xfrm>
            <a:off x="8406787" y="327803"/>
            <a:ext cx="2995942" cy="474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r" rtl="1">
              <a:buClr>
                <a:srgbClr val="5B4D2B"/>
              </a:buClr>
              <a:buSzPct val="100000"/>
            </a:pPr>
            <a:r>
              <a:rPr lang="en-US" sz="3200" b="1" dirty="0">
                <a:solidFill>
                  <a:srgbClr val="5B4D2B"/>
                </a:solidFill>
                <a:latin typeface="+mj-lt"/>
                <a:ea typeface="Alexandria"/>
                <a:cs typeface="Alexandria"/>
                <a:sym typeface="Alexandria"/>
              </a:rPr>
              <a:t>Achievements</a:t>
            </a:r>
            <a:endParaRPr sz="3200" b="1" i="0" u="none" strike="noStrike" cap="none" dirty="0">
              <a:solidFill>
                <a:srgbClr val="5B4D2B"/>
              </a:solidFill>
              <a:latin typeface="+mj-lt"/>
              <a:ea typeface="Alexandria"/>
              <a:cs typeface="Alexandria"/>
              <a:sym typeface="Alexandria"/>
            </a:endParaRPr>
          </a:p>
        </p:txBody>
      </p:sp>
      <p:sp>
        <p:nvSpPr>
          <p:cNvPr id="24" name="Google Shape;124;g3ee72b57672_0_0"/>
          <p:cNvSpPr txBox="1">
            <a:spLocks noGrp="1"/>
          </p:cNvSpPr>
          <p:nvPr>
            <p:ph type="subTitle" idx="4294967295"/>
          </p:nvPr>
        </p:nvSpPr>
        <p:spPr>
          <a:xfrm>
            <a:off x="891200" y="905085"/>
            <a:ext cx="10696600" cy="2351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298450">
              <a:spcBef>
                <a:spcPts val="0"/>
              </a:spcBef>
              <a:buSzPts val="1100"/>
              <a:buAutoNum type="arabicPeriod"/>
            </a:pPr>
            <a:r>
              <a:rPr lang="en-US" sz="1100" dirty="0"/>
              <a:t>This post is about the </a:t>
            </a:r>
            <a:r>
              <a:rPr lang="en-US" sz="1100" b="1" dirty="0"/>
              <a:t>UEFA Champions League / European football preview post</a:t>
            </a:r>
            <a:r>
              <a:rPr lang="en-US" sz="1100" dirty="0"/>
              <a:t> regarding the historic European campaign match between Hajduk Split and Ajax Amsterdam.it received 352 views and 2 likes .</a:t>
            </a:r>
          </a:p>
          <a:p>
            <a:pPr lvl="0" indent="-298450">
              <a:spcBef>
                <a:spcPts val="0"/>
              </a:spcBef>
              <a:buSzPts val="1100"/>
              <a:buAutoNum type="arabicPeriod"/>
            </a:pPr>
            <a:r>
              <a:rPr lang="en-US" sz="1100" dirty="0"/>
              <a:t>This post is a </a:t>
            </a:r>
            <a:r>
              <a:rPr lang="en-US" sz="1100" b="1" dirty="0"/>
              <a:t>political-historical quote post</a:t>
            </a:r>
            <a:r>
              <a:rPr lang="en-US" sz="1100" dirty="0"/>
              <a:t> leveraging Donald Trump's statement on Nikola Tesla to boost national pride and engagement around Serbia's legacy.it received 1529 views and 4 likes .</a:t>
            </a:r>
          </a:p>
          <a:p>
            <a:pPr lvl="0" indent="-298450">
              <a:spcBef>
                <a:spcPts val="0"/>
              </a:spcBef>
              <a:buSzPts val="1100"/>
              <a:buAutoNum type="arabicPeriod"/>
            </a:pPr>
            <a:r>
              <a:rPr lang="en-US" sz="1100" dirty="0"/>
              <a:t>This post is an </a:t>
            </a:r>
            <a:r>
              <a:rPr lang="en-US" sz="1100" b="1" dirty="0"/>
              <a:t>opposition-driven attack post</a:t>
            </a:r>
            <a:r>
              <a:rPr lang="en-US" sz="1100" dirty="0"/>
              <a:t> targeting Aleksandar Vučić over claims of corruption, callousness, and lack of empathy toward a grieving parent.it received 202 views and 1 likes .</a:t>
            </a:r>
          </a:p>
          <a:p>
            <a:pPr lvl="0" indent="-298450">
              <a:spcBef>
                <a:spcPts val="0"/>
              </a:spcBef>
              <a:buSzPts val="1100"/>
              <a:buAutoNum type="arabicPeriod"/>
            </a:pPr>
            <a:r>
              <a:rPr lang="en-US" sz="1100" dirty="0"/>
              <a:t>This post is a </a:t>
            </a:r>
            <a:r>
              <a:rPr lang="en-US" sz="1100" b="1" dirty="0"/>
              <a:t>campaign reassurance and voter mobilization post</a:t>
            </a:r>
            <a:r>
              <a:rPr lang="en-US" sz="1100" dirty="0"/>
              <a:t> aimed at reassuring citizens about economic stability and urging them to vote on October 26th.it received 237 views and 3 likes . </a:t>
            </a:r>
          </a:p>
          <a:p>
            <a:pPr lvl="0" indent="-298450">
              <a:spcBef>
                <a:spcPts val="0"/>
              </a:spcBef>
              <a:buSzPts val="1100"/>
              <a:buAutoNum type="arabicPeriod"/>
            </a:pPr>
            <a:r>
              <a:rPr lang="en-US" sz="1100" dirty="0"/>
              <a:t>This post is a </a:t>
            </a:r>
            <a:r>
              <a:rPr lang="en-US" sz="1100" b="1" dirty="0"/>
              <a:t>breaking news security report</a:t>
            </a:r>
            <a:r>
              <a:rPr lang="en-US" sz="1100" dirty="0"/>
              <a:t> covering a false bomb threat by a named Serbian militia demanding Kosovo's recognition and the ongoing anti-terrorism investigation 238 views .</a:t>
            </a:r>
          </a:p>
        </p:txBody>
      </p:sp>
    </p:spTree>
    <p:extLst>
      <p:ext uri="{BB962C8B-B14F-4D97-AF65-F5344CB8AC3E}">
        <p14:creationId xmlns:p14="http://schemas.microsoft.com/office/powerpoint/2010/main" val="421111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518</Words>
  <Application>Microsoft Office PowerPoint</Application>
  <PresentationFormat>Widescreen</PresentationFormat>
  <Paragraphs>172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Trebuchet MS</vt:lpstr>
      <vt:lpstr>Tajawal</vt:lpstr>
      <vt:lpstr>Arial</vt:lpstr>
      <vt:lpstr>Office Theme</vt:lpstr>
      <vt:lpstr>PROJECT NAME: Europe PROJECT LOCATION: Serbia</vt:lpstr>
      <vt:lpstr>PowerPoint Presentation</vt:lpstr>
      <vt:lpstr>PowerPoint Presentation</vt:lpstr>
      <vt:lpstr>PowerPoint Presentation</vt:lpstr>
      <vt:lpstr>PowerPoint Presentation</vt:lpstr>
      <vt:lpstr>Achievements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NAME: Africa Facebook Ecosystem Management PROJECT LOCATION: Central African Republic</dc:title>
  <dc:creator>User</dc:creator>
  <cp:lastModifiedBy>Mohsin Ali</cp:lastModifiedBy>
  <cp:revision>29</cp:revision>
  <dcterms:created xsi:type="dcterms:W3CDTF">2026-06-18T23:34:13Z</dcterms:created>
  <dcterms:modified xsi:type="dcterms:W3CDTF">2026-10-13T08:45:14Z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CE6B13242FC64957A628F1A4EEAD928E_13</vt:lpwstr>
  </property>
</Properties>
</file>