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charts/style1.xml" ContentType="application/vnd.ms-office.chartstyle+xml"/>
  <Override PartName="/ppt/charts/colors1.xml" ContentType="application/vnd.ms-office.chartcolorstyle+xml"/>
  <Override PartName="/ppt/charts/style2.xml" ContentType="application/vnd.ms-office.chartstyle+xml"/>
  <Override PartName="/ppt/charts/colors2.xml" ContentType="application/vnd.ms-office.chartcolorstyl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76" r:id="rId4"/>
    <p:sldId id="259" r:id="rId5"/>
    <p:sldId id="260" r:id="rId6"/>
    <p:sldId id="274" r:id="rId7"/>
    <p:sldId id="275" r:id="rId8"/>
  </p:sldIdLst>
  <p:sldSz cx="12192000" cy="6858000"/>
  <p:notesSz cx="6858000" cy="9144000"/>
  <p:embeddedFontLst>
    <p:embeddedFont>
      <p:font typeface="Play" panose="020B0604020202020204" charset="0"/>
      <p:regular r:id="rId10"/>
      <p:bold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Alexandria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ipdXJCaMkWaUZ27M1K+LtzUU0a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DA9FD28-9D07-4CC6-B0D6-371129F9E396}">
  <a:tblStyle styleId="{1DA9FD28-9D07-4CC6-B0D6-371129F9E39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6"/>
  </p:normalViewPr>
  <p:slideViewPr>
    <p:cSldViewPr snapToGrid="0">
      <p:cViewPr>
        <p:scale>
          <a:sx n="100" d="100"/>
          <a:sy n="100" d="100"/>
        </p:scale>
        <p:origin x="-954" y="-3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customschemas.google.com/relationships/presentationmetadata" Target="metadata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Style" Target="style2.xml"/><Relationship Id="rId2" Type="http://schemas.microsoft.com/office/2011/relationships/chartColorStyle" Target="colors2.xml"/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ar-AE" dirty="0" smtClean="0"/>
              <a:t>نمو عدد المتابعين من سبتمبر 2026 إلى أكتوبر 2026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Aug-26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Followers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10331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B6E-4F9E-BEC8-32E640BA83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Sep-26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Followers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11201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7B6E-4F9E-BEC8-32E640BA83B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0302592"/>
        <c:axId val="153842176"/>
      </c:barChart>
      <c:catAx>
        <c:axId val="120302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842176"/>
        <c:crosses val="autoZero"/>
        <c:auto val="1"/>
        <c:lblAlgn val="ctr"/>
        <c:lblOffset val="100"/>
        <c:noMultiLvlLbl val="0"/>
      </c:catAx>
      <c:valAx>
        <c:axId val="153842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302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ar-AE" dirty="0"/>
              <a:t>نمو التفاعل من أغسطس 2026 إلى سبتمبر2026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Aug-26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Engagement</c:v>
                </c:pt>
              </c:strCache>
            </c:strRef>
          </c:cat>
          <c:val>
            <c:numRef>
              <c:f>Sheet1!$B$2</c:f>
              <c:numCache>
                <c:formatCode>#,##0</c:formatCode>
                <c:ptCount val="1"/>
                <c:pt idx="0">
                  <c:v>4510138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51D8-45F7-9DC2-2609F96159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Sep-26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Engagement</c:v>
                </c:pt>
              </c:strCache>
            </c:strRef>
          </c:cat>
          <c:val>
            <c:numRef>
              <c:f>Sheet1!$C$2</c:f>
              <c:numCache>
                <c:formatCode>#,##0</c:formatCode>
                <c:ptCount val="1"/>
                <c:pt idx="0">
                  <c:v>3175402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51D8-45F7-9DC2-2609F961592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0870400"/>
        <c:axId val="153844480"/>
      </c:barChart>
      <c:catAx>
        <c:axId val="120870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844480"/>
        <c:crosses val="autoZero"/>
        <c:auto val="1"/>
        <c:lblAlgn val="ctr"/>
        <c:lblOffset val="100"/>
        <c:noMultiLvlLbl val="0"/>
      </c:catAx>
      <c:valAx>
        <c:axId val="153844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870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493310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95419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75180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ab93fd4f2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g3fab93fd4f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88851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4" name="Google Shape;2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15056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2" name="Google Shape;2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69349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57150" cap="flat" cmpd="sng">
            <a:solidFill>
              <a:srgbClr val="A9925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9"/>
          <p:cNvSpPr/>
          <p:nvPr/>
        </p:nvSpPr>
        <p:spPr>
          <a:xfrm>
            <a:off x="1360714" y="-21772"/>
            <a:ext cx="9470572" cy="141514"/>
          </a:xfrm>
          <a:prstGeom prst="rect">
            <a:avLst/>
          </a:prstGeom>
          <a:solidFill>
            <a:srgbClr val="A9925F">
              <a:alpha val="31764"/>
            </a:srgbClr>
          </a:solidFill>
          <a:ln w="19050" cap="flat" cmpd="sng">
            <a:solidFill>
              <a:srgbClr val="A9925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9"/>
          <p:cNvSpPr/>
          <p:nvPr/>
        </p:nvSpPr>
        <p:spPr>
          <a:xfrm>
            <a:off x="1360714" y="6705600"/>
            <a:ext cx="9470572" cy="141514"/>
          </a:xfrm>
          <a:prstGeom prst="rect">
            <a:avLst/>
          </a:prstGeom>
          <a:solidFill>
            <a:srgbClr val="A9925F">
              <a:alpha val="31764"/>
            </a:srgbClr>
          </a:solidFill>
          <a:ln w="19050" cap="flat" cmpd="sng">
            <a:solidFill>
              <a:srgbClr val="A9925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 idx="4294967295"/>
          </p:nvPr>
        </p:nvSpPr>
        <p:spPr>
          <a:xfrm>
            <a:off x="1524000" y="2299995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 rtl="1">
              <a:buClr>
                <a:srgbClr val="A9925F"/>
              </a:buClr>
              <a:buSzPts val="3600"/>
            </a:pPr>
            <a:r>
              <a:rPr lang="ar-SA" sz="3600" b="1" dirty="0">
                <a:solidFill>
                  <a:srgbClr val="A9925F"/>
                </a:solidFill>
                <a:latin typeface="Arial"/>
                <a:ea typeface="Arial"/>
                <a:cs typeface="Arial"/>
                <a:sym typeface="Arial"/>
              </a:rPr>
              <a:t>أحدث تقرير شهري – مشروع ماليزيا</a:t>
            </a:r>
            <a:endParaRPr sz="3600" b="1" i="0" u="none" strike="noStrike" cap="none" dirty="0">
              <a:solidFill>
                <a:srgbClr val="A9925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4294967295"/>
          </p:nvPr>
        </p:nvSpPr>
        <p:spPr>
          <a:xfrm>
            <a:off x="1524000" y="4260827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>
              <a:spcBef>
                <a:spcPts val="0"/>
              </a:spcBef>
              <a:buSzPts val="2000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2026 - </a:t>
            </a:r>
            <a:r>
              <a:rPr lang="ar-SA" sz="2000" dirty="0"/>
              <a:t>أكتوبر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0" y="0"/>
            <a:ext cx="9729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chemeClr val="dk1"/>
                </a:solidFill>
              </a:rPr>
              <a:t>17.10</a:t>
            </a:r>
            <a:r>
              <a:rPr lang="en-US" sz="12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" name="Google Shape;99;p1"/>
          <p:cNvGrpSpPr/>
          <p:nvPr/>
        </p:nvGrpSpPr>
        <p:grpSpPr>
          <a:xfrm>
            <a:off x="4910219" y="706822"/>
            <a:ext cx="2371740" cy="2371740"/>
            <a:chOff x="5172862" y="190904"/>
            <a:chExt cx="1484100" cy="1484100"/>
          </a:xfrm>
        </p:grpSpPr>
        <p:sp>
          <p:nvSpPr>
            <p:cNvPr id="100" name="Google Shape;100;p1"/>
            <p:cNvSpPr/>
            <p:nvPr/>
          </p:nvSpPr>
          <p:spPr>
            <a:xfrm>
              <a:off x="5425012" y="263711"/>
              <a:ext cx="1173000" cy="1206000"/>
            </a:xfrm>
            <a:prstGeom prst="ellipse">
              <a:avLst/>
            </a:prstGeom>
            <a:solidFill>
              <a:srgbClr val="EAE5D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1" name="Google Shape;101;p1" descr="A white board with a dart and arrows&#10;&#10;AI-generated content may be incorrect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72862" y="190904"/>
              <a:ext cx="1484100" cy="14841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/>
          <p:nvPr/>
        </p:nvSpPr>
        <p:spPr>
          <a:xfrm>
            <a:off x="1021647" y="377371"/>
            <a:ext cx="10653289" cy="101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 rtl="1">
              <a:lnSpc>
                <a:spcPct val="90000"/>
              </a:lnSpc>
              <a:buSzPts val="2000"/>
            </a:pPr>
            <a:r>
              <a:rPr lang="ar-SA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ملخص الإنجازات:</a:t>
            </a:r>
            <a:endParaRPr lang="ar-SA" sz="1800" dirty="0">
              <a:solidFill>
                <a:schemeClr val="dk1"/>
              </a:solidFill>
            </a:endParaRPr>
          </a:p>
        </p:txBody>
      </p:sp>
      <p:graphicFrame>
        <p:nvGraphicFramePr>
          <p:cNvPr id="107" name="Google Shape;107;p2"/>
          <p:cNvGraphicFramePr/>
          <p:nvPr>
            <p:extLst>
              <p:ext uri="{D42A27DB-BD31-4B8C-83A1-F6EECF244321}">
                <p14:modId xmlns:p14="http://schemas.microsoft.com/office/powerpoint/2010/main" val="1785638473"/>
              </p:ext>
            </p:extLst>
          </p:nvPr>
        </p:nvGraphicFramePr>
        <p:xfrm>
          <a:off x="517134" y="2732363"/>
          <a:ext cx="1314450" cy="1562100"/>
        </p:xfrm>
        <a:graphic>
          <a:graphicData uri="http://schemas.openxmlformats.org/drawingml/2006/table">
            <a:tbl>
              <a:tblPr>
                <a:noFill/>
                <a:tableStyleId>{1DA9FD28-9D07-4CC6-B0D6-371129F9E396}</a:tableStyleId>
              </a:tblPr>
              <a:tblGrid>
                <a:gridCol w="13144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ar-SA" sz="18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إجمالي عدد الحسابات</a:t>
                      </a:r>
                      <a:endParaRPr lang="ar-SA" sz="1400" b="0" u="none" strike="noStrike" cap="none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95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8" name="Google Shape;108;p2"/>
          <p:cNvGraphicFramePr/>
          <p:nvPr>
            <p:extLst>
              <p:ext uri="{D42A27DB-BD31-4B8C-83A1-F6EECF244321}">
                <p14:modId xmlns:p14="http://schemas.microsoft.com/office/powerpoint/2010/main" val="1357790477"/>
              </p:ext>
            </p:extLst>
          </p:nvPr>
        </p:nvGraphicFramePr>
        <p:xfrm>
          <a:off x="3842043" y="2732363"/>
          <a:ext cx="1314450" cy="1562100"/>
        </p:xfrm>
        <a:graphic>
          <a:graphicData uri="http://schemas.openxmlformats.org/drawingml/2006/table">
            <a:tbl>
              <a:tblPr>
                <a:noFill/>
                <a:tableStyleId>{1DA9FD28-9D07-4CC6-B0D6-371129F9E396}</a:tableStyleId>
              </a:tblPr>
              <a:tblGrid>
                <a:gridCol w="13144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ar-SA" sz="18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إجمالي الوصول</a:t>
                      </a:r>
                      <a:endParaRPr lang="ar-SA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dirty="0"/>
                        <a:t>3180687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9" name="Google Shape;109;p2"/>
          <p:cNvGraphicFramePr/>
          <p:nvPr>
            <p:extLst>
              <p:ext uri="{D42A27DB-BD31-4B8C-83A1-F6EECF244321}">
                <p14:modId xmlns:p14="http://schemas.microsoft.com/office/powerpoint/2010/main" val="1062349350"/>
              </p:ext>
            </p:extLst>
          </p:nvPr>
        </p:nvGraphicFramePr>
        <p:xfrm>
          <a:off x="5438812" y="2732363"/>
          <a:ext cx="1314450" cy="1562100"/>
        </p:xfrm>
        <a:graphic>
          <a:graphicData uri="http://schemas.openxmlformats.org/drawingml/2006/table">
            <a:tbl>
              <a:tblPr>
                <a:noFill/>
                <a:tableStyleId>{1DA9FD28-9D07-4CC6-B0D6-371129F9E396}</a:tableStyleId>
              </a:tblPr>
              <a:tblGrid>
                <a:gridCol w="13144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ar-SA" sz="18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إجمالي </a:t>
                      </a:r>
                      <a:r>
                        <a:rPr lang="ar-SA" sz="1800" b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الإعجابات</a:t>
                      </a:r>
                      <a:endParaRPr lang="ar-SA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dirty="0"/>
                        <a:t>70367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0" name="Google Shape;110;p2"/>
          <p:cNvGraphicFramePr/>
          <p:nvPr>
            <p:extLst>
              <p:ext uri="{D42A27DB-BD31-4B8C-83A1-F6EECF244321}">
                <p14:modId xmlns:p14="http://schemas.microsoft.com/office/powerpoint/2010/main" val="654772332"/>
              </p:ext>
            </p:extLst>
          </p:nvPr>
        </p:nvGraphicFramePr>
        <p:xfrm>
          <a:off x="2179129" y="2732363"/>
          <a:ext cx="1380625" cy="1562100"/>
        </p:xfrm>
        <a:graphic>
          <a:graphicData uri="http://schemas.openxmlformats.org/drawingml/2006/table">
            <a:tbl>
              <a:tblPr>
                <a:noFill/>
                <a:tableStyleId>{1DA9FD28-9D07-4CC6-B0D6-371129F9E396}</a:tableStyleId>
              </a:tblPr>
              <a:tblGrid>
                <a:gridCol w="13806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ar-SA" sz="18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إجمالي المنشورات</a:t>
                      </a:r>
                      <a:endParaRPr lang="ar-SA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8513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1" name="Google Shape;111;p2"/>
          <p:cNvGraphicFramePr/>
          <p:nvPr>
            <p:extLst>
              <p:ext uri="{D42A27DB-BD31-4B8C-83A1-F6EECF244321}">
                <p14:modId xmlns:p14="http://schemas.microsoft.com/office/powerpoint/2010/main" val="335361148"/>
              </p:ext>
            </p:extLst>
          </p:nvPr>
        </p:nvGraphicFramePr>
        <p:xfrm>
          <a:off x="10360487" y="2732382"/>
          <a:ext cx="1314450" cy="1562100"/>
        </p:xfrm>
        <a:graphic>
          <a:graphicData uri="http://schemas.openxmlformats.org/drawingml/2006/table">
            <a:tbl>
              <a:tblPr>
                <a:noFill/>
                <a:tableStyleId>{1DA9FD28-9D07-4CC6-B0D6-371129F9E396}</a:tableStyleId>
              </a:tblPr>
              <a:tblGrid>
                <a:gridCol w="13144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ar-SA" sz="18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إجمالي المشاهدات</a:t>
                      </a:r>
                      <a:endParaRPr lang="ar-SA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dirty="0"/>
                        <a:t>3098888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2" name="Google Shape;112;p2"/>
          <p:cNvGraphicFramePr/>
          <p:nvPr>
            <p:extLst>
              <p:ext uri="{D42A27DB-BD31-4B8C-83A1-F6EECF244321}">
                <p14:modId xmlns:p14="http://schemas.microsoft.com/office/powerpoint/2010/main" val="3863406933"/>
              </p:ext>
            </p:extLst>
          </p:nvPr>
        </p:nvGraphicFramePr>
        <p:xfrm>
          <a:off x="7035544" y="2732363"/>
          <a:ext cx="1161399" cy="1562100"/>
        </p:xfrm>
        <a:graphic>
          <a:graphicData uri="http://schemas.openxmlformats.org/drawingml/2006/table">
            <a:tbl>
              <a:tblPr>
                <a:noFill/>
                <a:tableStyleId>{1DA9FD28-9D07-4CC6-B0D6-371129F9E396}</a:tableStyleId>
              </a:tblPr>
              <a:tblGrid>
                <a:gridCol w="116139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ar-SA" sz="18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إجمالي المتابعين</a:t>
                      </a:r>
                      <a:endParaRPr lang="ar-SA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dirty="0"/>
                        <a:t>11201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3" name="Google Shape;113;p2"/>
          <p:cNvGraphicFramePr/>
          <p:nvPr>
            <p:extLst>
              <p:ext uri="{D42A27DB-BD31-4B8C-83A1-F6EECF244321}">
                <p14:modId xmlns:p14="http://schemas.microsoft.com/office/powerpoint/2010/main" val="2567085721"/>
              </p:ext>
            </p:extLst>
          </p:nvPr>
        </p:nvGraphicFramePr>
        <p:xfrm>
          <a:off x="8698014" y="2732363"/>
          <a:ext cx="1314450" cy="1562100"/>
        </p:xfrm>
        <a:graphic>
          <a:graphicData uri="http://schemas.openxmlformats.org/drawingml/2006/table">
            <a:tbl>
              <a:tblPr>
                <a:noFill/>
                <a:tableStyleId>{1DA9FD28-9D07-4CC6-B0D6-371129F9E396}</a:tableStyleId>
              </a:tblPr>
              <a:tblGrid>
                <a:gridCol w="13144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ar-SA" sz="18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إجمالي التعليقات</a:t>
                      </a:r>
                      <a:endParaRPr lang="ar-SA" sz="14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dirty="0"/>
                        <a:t>6147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 txBox="1"/>
          <p:nvPr/>
        </p:nvSpPr>
        <p:spPr>
          <a:xfrm>
            <a:off x="0" y="6424853"/>
            <a:ext cx="972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943600" y="312045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 txBox="1">
            <a:spLocks noGrp="1"/>
          </p:cNvSpPr>
          <p:nvPr>
            <p:ph type="subTitle" idx="4294967295"/>
          </p:nvPr>
        </p:nvSpPr>
        <p:spPr>
          <a:xfrm>
            <a:off x="428262" y="4711236"/>
            <a:ext cx="11184737" cy="135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indent="-292100" algn="r" rtl="1">
              <a:lnSpc>
                <a:spcPct val="100000"/>
              </a:lnSpc>
              <a:spcBef>
                <a:spcPts val="1200"/>
              </a:spcBef>
              <a:buSzPts val="1000"/>
            </a:pPr>
            <a:r>
              <a:rPr lang="en-US" sz="1200" dirty="0" err="1"/>
              <a:t>احتفلت</a:t>
            </a:r>
            <a:r>
              <a:rPr lang="en-US" sz="1200" dirty="0"/>
              <a:t> </a:t>
            </a:r>
            <a:r>
              <a:rPr lang="en-US" sz="1200" dirty="0" err="1"/>
              <a:t>ماليزيا</a:t>
            </a:r>
            <a:r>
              <a:rPr lang="en-US" sz="1200" dirty="0"/>
              <a:t> </a:t>
            </a:r>
            <a:r>
              <a:rPr lang="en-US" sz="1200" dirty="0" err="1"/>
              <a:t>بـاليوم</a:t>
            </a:r>
            <a:r>
              <a:rPr lang="en-US" sz="1200" dirty="0"/>
              <a:t> </a:t>
            </a:r>
            <a:r>
              <a:rPr lang="en-US" sz="1200" dirty="0" err="1"/>
              <a:t>الوطني</a:t>
            </a:r>
            <a:r>
              <a:rPr lang="en-US" sz="1200" dirty="0"/>
              <a:t> </a:t>
            </a:r>
            <a:r>
              <a:rPr lang="en-US" sz="1200" dirty="0" err="1"/>
              <a:t>في</a:t>
            </a:r>
            <a:r>
              <a:rPr lang="en-US" sz="1200" dirty="0"/>
              <a:t> 31 </a:t>
            </a:r>
            <a:r>
              <a:rPr lang="en-US" sz="1200" dirty="0" err="1"/>
              <a:t>أغسطس</a:t>
            </a:r>
            <a:r>
              <a:rPr lang="en-US" sz="1200" dirty="0"/>
              <a:t>، </a:t>
            </a:r>
            <a:r>
              <a:rPr lang="en-US" sz="1200" dirty="0" err="1"/>
              <a:t>بمشاركة</a:t>
            </a:r>
            <a:r>
              <a:rPr lang="en-US" sz="1200" dirty="0"/>
              <a:t> </a:t>
            </a:r>
            <a:r>
              <a:rPr lang="en-US" sz="1200" dirty="0" err="1"/>
              <a:t>أكثر</a:t>
            </a:r>
            <a:r>
              <a:rPr lang="en-US" sz="1200" dirty="0"/>
              <a:t> </a:t>
            </a:r>
            <a:r>
              <a:rPr lang="en-US" sz="1200" dirty="0" err="1"/>
              <a:t>من</a:t>
            </a:r>
            <a:r>
              <a:rPr lang="en-US" sz="1200" dirty="0"/>
              <a:t> 100 </a:t>
            </a:r>
            <a:r>
              <a:rPr lang="en-US" sz="1200" dirty="0" err="1"/>
              <a:t>ألف</a:t>
            </a:r>
            <a:r>
              <a:rPr lang="en-US" sz="1200" dirty="0"/>
              <a:t> </a:t>
            </a:r>
            <a:r>
              <a:rPr lang="en-US" sz="1200" dirty="0" err="1"/>
              <a:t>شخص</a:t>
            </a:r>
            <a:r>
              <a:rPr lang="en-US" sz="1200" dirty="0"/>
              <a:t> </a:t>
            </a:r>
            <a:r>
              <a:rPr lang="en-US" sz="1200" dirty="0" err="1"/>
              <a:t>في</a:t>
            </a:r>
            <a:r>
              <a:rPr lang="en-US" sz="1200" dirty="0"/>
              <a:t> </a:t>
            </a:r>
            <a:r>
              <a:rPr lang="en-US" sz="1200" dirty="0" err="1"/>
              <a:t>احتفالات</a:t>
            </a:r>
            <a:r>
              <a:rPr lang="en-US" sz="1200" dirty="0"/>
              <a:t> </a:t>
            </a:r>
            <a:r>
              <a:rPr lang="en-US" sz="1200" dirty="0" err="1"/>
              <a:t>بوتراجايا</a:t>
            </a:r>
            <a:r>
              <a:rPr lang="en-US" sz="1200" dirty="0"/>
              <a:t>. </a:t>
            </a:r>
            <a:r>
              <a:rPr lang="en-US" sz="1200" dirty="0" err="1"/>
              <a:t>وأُقيمت</a:t>
            </a:r>
            <a:r>
              <a:rPr lang="en-US" sz="1200" dirty="0"/>
              <a:t> </a:t>
            </a:r>
            <a:r>
              <a:rPr lang="en-US" sz="1200" dirty="0" err="1"/>
              <a:t>الفعاليات</a:t>
            </a:r>
            <a:r>
              <a:rPr lang="en-US" sz="1200" dirty="0"/>
              <a:t> </a:t>
            </a:r>
            <a:r>
              <a:rPr lang="en-US" sz="1200" dirty="0" err="1"/>
              <a:t>على</a:t>
            </a:r>
            <a:r>
              <a:rPr lang="en-US" sz="1200" dirty="0"/>
              <a:t> </a:t>
            </a:r>
            <a:r>
              <a:rPr lang="en-US" sz="1200" dirty="0" err="1"/>
              <a:t>نطاق</a:t>
            </a:r>
            <a:r>
              <a:rPr lang="en-US" sz="1200" dirty="0"/>
              <a:t> </a:t>
            </a:r>
            <a:r>
              <a:rPr lang="en-US" sz="1200" dirty="0" err="1"/>
              <a:t>أكثر</a:t>
            </a:r>
            <a:r>
              <a:rPr lang="en-US" sz="1200" dirty="0"/>
              <a:t> </a:t>
            </a:r>
            <a:r>
              <a:rPr lang="en-US" sz="1200" dirty="0" err="1"/>
              <a:t>تواضعًا</a:t>
            </a:r>
            <a:r>
              <a:rPr lang="en-US" sz="1200" dirty="0"/>
              <a:t> </a:t>
            </a:r>
            <a:r>
              <a:rPr lang="en-US" sz="1200" dirty="0" err="1"/>
              <a:t>في</a:t>
            </a:r>
            <a:r>
              <a:rPr lang="en-US" sz="1200" dirty="0"/>
              <a:t> </a:t>
            </a:r>
            <a:r>
              <a:rPr lang="en-US" sz="1200" dirty="0" err="1"/>
              <a:t>ظل</a:t>
            </a:r>
            <a:r>
              <a:rPr lang="en-US" sz="1200" dirty="0"/>
              <a:t> </a:t>
            </a:r>
            <a:r>
              <a:rPr lang="en-US" sz="1200" dirty="0" err="1"/>
              <a:t>ضغوط</a:t>
            </a:r>
            <a:r>
              <a:rPr lang="en-US" sz="1200" dirty="0"/>
              <a:t> </a:t>
            </a:r>
            <a:r>
              <a:rPr lang="en-US" sz="1200" dirty="0" err="1"/>
              <a:t>الطاقة</a:t>
            </a:r>
            <a:r>
              <a:rPr lang="en-US" sz="1200" dirty="0"/>
              <a:t> </a:t>
            </a:r>
            <a:r>
              <a:rPr lang="en-US" sz="1200" dirty="0" err="1"/>
              <a:t>العالمية</a:t>
            </a:r>
            <a:r>
              <a:rPr lang="en-US" sz="1200" dirty="0"/>
              <a:t>، </a:t>
            </a:r>
            <a:r>
              <a:rPr lang="en-US" sz="1200" dirty="0" err="1"/>
              <a:t>مع</a:t>
            </a:r>
            <a:r>
              <a:rPr lang="en-US" sz="1200" dirty="0"/>
              <a:t> </a:t>
            </a:r>
            <a:r>
              <a:rPr lang="en-US" sz="1200" dirty="0" err="1"/>
              <a:t>الإبقاء</a:t>
            </a:r>
            <a:r>
              <a:rPr lang="en-US" sz="1200" dirty="0"/>
              <a:t> </a:t>
            </a:r>
            <a:r>
              <a:rPr lang="en-US" sz="1200" dirty="0" err="1"/>
              <a:t>على</a:t>
            </a:r>
            <a:r>
              <a:rPr lang="en-US" sz="1200" dirty="0"/>
              <a:t> </a:t>
            </a:r>
            <a:r>
              <a:rPr lang="en-US" sz="1200" dirty="0" err="1"/>
              <a:t>عناصر</a:t>
            </a:r>
            <a:r>
              <a:rPr lang="en-US" sz="1200" dirty="0"/>
              <a:t> </a:t>
            </a:r>
            <a:r>
              <a:rPr lang="en-US" sz="1200" dirty="0" err="1"/>
              <a:t>الاحتفال</a:t>
            </a:r>
            <a:r>
              <a:rPr lang="en-US" sz="1200" dirty="0"/>
              <a:t> </a:t>
            </a:r>
            <a:r>
              <a:rPr lang="en-US" sz="1200" dirty="0" err="1"/>
              <a:t>التقليدية</a:t>
            </a:r>
            <a:r>
              <a:rPr lang="en-US" sz="1200" dirty="0"/>
              <a:t>، </a:t>
            </a:r>
            <a:r>
              <a:rPr lang="en-US" sz="1200" dirty="0" err="1"/>
              <a:t>بما</a:t>
            </a:r>
            <a:r>
              <a:rPr lang="en-US" sz="1200" dirty="0"/>
              <a:t> </a:t>
            </a:r>
            <a:r>
              <a:rPr lang="en-US" sz="1200" dirty="0" err="1"/>
              <a:t>فيها</a:t>
            </a:r>
            <a:r>
              <a:rPr lang="en-US" sz="1200" dirty="0"/>
              <a:t> </a:t>
            </a:r>
            <a:r>
              <a:rPr lang="en-US" sz="1200" dirty="0" err="1"/>
              <a:t>العرض</a:t>
            </a:r>
            <a:r>
              <a:rPr lang="en-US" sz="1200" dirty="0"/>
              <a:t> </a:t>
            </a:r>
            <a:r>
              <a:rPr lang="en-US" sz="1200" dirty="0" err="1"/>
              <a:t>العسكري</a:t>
            </a:r>
            <a:r>
              <a:rPr lang="en-US" sz="1200" dirty="0"/>
              <a:t> </a:t>
            </a:r>
            <a:r>
              <a:rPr lang="en-US" sz="1200" dirty="0" err="1"/>
              <a:t>والعروض</a:t>
            </a:r>
            <a:r>
              <a:rPr lang="en-US" sz="1200" dirty="0"/>
              <a:t> </a:t>
            </a:r>
            <a:r>
              <a:rPr lang="en-US" sz="1200" dirty="0" err="1"/>
              <a:t>الجوية</a:t>
            </a:r>
            <a:r>
              <a:rPr lang="en-US" sz="1200" dirty="0"/>
              <a:t>.</a:t>
            </a:r>
            <a:endParaRPr sz="1200" dirty="0"/>
          </a:p>
          <a:p>
            <a:pPr indent="-292100" algn="r" rtl="1">
              <a:lnSpc>
                <a:spcPct val="100000"/>
              </a:lnSpc>
              <a:spcBef>
                <a:spcPts val="0"/>
              </a:spcBef>
              <a:buSzPts val="1000"/>
            </a:pPr>
            <a:r>
              <a:rPr lang="en-US" sz="1200" dirty="0" err="1"/>
              <a:t>أدى</a:t>
            </a:r>
            <a:r>
              <a:rPr lang="en-US" sz="1200" dirty="0"/>
              <a:t> </a:t>
            </a:r>
            <a:r>
              <a:rPr lang="en-US" sz="1200" dirty="0" err="1"/>
              <a:t>تحطم</a:t>
            </a:r>
            <a:r>
              <a:rPr lang="en-US" sz="1200" dirty="0"/>
              <a:t> </a:t>
            </a:r>
            <a:r>
              <a:rPr lang="en-US" sz="1200" dirty="0" err="1"/>
              <a:t>مروحية</a:t>
            </a:r>
            <a:r>
              <a:rPr lang="en-US" sz="1200" dirty="0"/>
              <a:t> </a:t>
            </a:r>
            <a:r>
              <a:rPr lang="en-US" sz="1200" dirty="0" err="1"/>
              <a:t>تابعة</a:t>
            </a:r>
            <a:r>
              <a:rPr lang="en-US" sz="1200" dirty="0"/>
              <a:t> </a:t>
            </a:r>
            <a:r>
              <a:rPr lang="en-US" sz="1200" dirty="0" err="1"/>
              <a:t>لخدمة</a:t>
            </a:r>
            <a:r>
              <a:rPr lang="en-US" sz="1200" dirty="0"/>
              <a:t> </a:t>
            </a:r>
            <a:r>
              <a:rPr lang="en-US" sz="1200" dirty="0" err="1"/>
              <a:t>الطبيب</a:t>
            </a:r>
            <a:r>
              <a:rPr lang="en-US" sz="1200" dirty="0"/>
              <a:t> </a:t>
            </a:r>
            <a:r>
              <a:rPr lang="en-US" sz="1200" dirty="0" err="1"/>
              <a:t>الطائر</a:t>
            </a:r>
            <a:r>
              <a:rPr lang="en-US" sz="1200" dirty="0"/>
              <a:t> </a:t>
            </a:r>
            <a:r>
              <a:rPr lang="en-US" sz="1200" dirty="0" err="1"/>
              <a:t>في</a:t>
            </a:r>
            <a:r>
              <a:rPr lang="en-US" sz="1200" dirty="0"/>
              <a:t> </a:t>
            </a:r>
            <a:r>
              <a:rPr lang="en-US" sz="1200" dirty="0" err="1"/>
              <a:t>ساراواك</a:t>
            </a:r>
            <a:r>
              <a:rPr lang="en-US" sz="1200" dirty="0"/>
              <a:t> </a:t>
            </a:r>
            <a:r>
              <a:rPr lang="en-US" sz="1200" dirty="0" err="1"/>
              <a:t>يوم</a:t>
            </a:r>
            <a:r>
              <a:rPr lang="en-US" sz="1200" dirty="0"/>
              <a:t> 8 </a:t>
            </a:r>
            <a:r>
              <a:rPr lang="en-US" sz="1200" dirty="0" err="1"/>
              <a:t>سبتمبر</a:t>
            </a:r>
            <a:r>
              <a:rPr lang="en-US" sz="1200" dirty="0"/>
              <a:t> </a:t>
            </a:r>
            <a:r>
              <a:rPr lang="en-US" sz="1200" dirty="0" err="1"/>
              <a:t>إلى</a:t>
            </a:r>
            <a:r>
              <a:rPr lang="en-US" sz="1200" dirty="0"/>
              <a:t> </a:t>
            </a:r>
            <a:r>
              <a:rPr lang="en-US" sz="1200" dirty="0" err="1"/>
              <a:t>وفاة</a:t>
            </a:r>
            <a:r>
              <a:rPr lang="en-US" sz="1200" dirty="0"/>
              <a:t> </a:t>
            </a:r>
            <a:r>
              <a:rPr lang="en-US" sz="1200" dirty="0" err="1"/>
              <a:t>جميع</a:t>
            </a:r>
            <a:r>
              <a:rPr lang="en-US" sz="1200" dirty="0"/>
              <a:t> </a:t>
            </a:r>
            <a:r>
              <a:rPr lang="en-US" sz="1200" dirty="0" err="1"/>
              <a:t>الأشخاص</a:t>
            </a:r>
            <a:r>
              <a:rPr lang="en-US" sz="1200" dirty="0"/>
              <a:t> </a:t>
            </a:r>
            <a:r>
              <a:rPr lang="en-US" sz="1200" dirty="0" err="1"/>
              <a:t>الخمسة</a:t>
            </a:r>
            <a:r>
              <a:rPr lang="en-US" sz="1200" dirty="0"/>
              <a:t> </a:t>
            </a:r>
            <a:r>
              <a:rPr lang="en-US" sz="1200" dirty="0" err="1"/>
              <a:t>الذين</a:t>
            </a:r>
            <a:r>
              <a:rPr lang="en-US" sz="1200" dirty="0"/>
              <a:t> </a:t>
            </a:r>
            <a:r>
              <a:rPr lang="en-US" sz="1200" dirty="0" err="1"/>
              <a:t>كانوا</a:t>
            </a:r>
            <a:r>
              <a:rPr lang="en-US" sz="1200" dirty="0"/>
              <a:t> </a:t>
            </a:r>
            <a:r>
              <a:rPr lang="en-US" sz="1200" dirty="0" err="1"/>
              <a:t>على</a:t>
            </a:r>
            <a:r>
              <a:rPr lang="en-US" sz="1200" dirty="0"/>
              <a:t> </a:t>
            </a:r>
            <a:r>
              <a:rPr lang="en-US" sz="1200" dirty="0" err="1"/>
              <a:t>متنها</a:t>
            </a:r>
            <a:r>
              <a:rPr lang="en-US" sz="1200" dirty="0"/>
              <a:t>، </a:t>
            </a:r>
            <a:r>
              <a:rPr lang="en-US" sz="1200" dirty="0" err="1"/>
              <a:t>ومن</a:t>
            </a:r>
            <a:r>
              <a:rPr lang="en-US" sz="1200" dirty="0"/>
              <a:t> </a:t>
            </a:r>
            <a:r>
              <a:rPr lang="en-US" sz="1200" dirty="0" err="1"/>
              <a:t>بينهم</a:t>
            </a:r>
            <a:r>
              <a:rPr lang="en-US" sz="1200" dirty="0"/>
              <a:t> </a:t>
            </a:r>
            <a:r>
              <a:rPr lang="en-US" sz="1200" dirty="0" err="1"/>
              <a:t>أربعة</a:t>
            </a:r>
            <a:r>
              <a:rPr lang="en-US" sz="1200" dirty="0"/>
              <a:t> </a:t>
            </a:r>
            <a:r>
              <a:rPr lang="en-US" sz="1200" dirty="0" err="1"/>
              <a:t>من</a:t>
            </a:r>
            <a:r>
              <a:rPr lang="en-US" sz="1200" dirty="0"/>
              <a:t> </a:t>
            </a:r>
            <a:r>
              <a:rPr lang="en-US" sz="1200" dirty="0" err="1"/>
              <a:t>موظفي</a:t>
            </a:r>
            <a:r>
              <a:rPr lang="en-US" sz="1200" dirty="0"/>
              <a:t> </a:t>
            </a:r>
            <a:r>
              <a:rPr lang="en-US" sz="1200" dirty="0" err="1"/>
              <a:t>وزارة</a:t>
            </a:r>
            <a:r>
              <a:rPr lang="en-US" sz="1200" dirty="0"/>
              <a:t> </a:t>
            </a:r>
            <a:r>
              <a:rPr lang="en-US" sz="1200" dirty="0" err="1"/>
              <a:t>الصحة</a:t>
            </a:r>
            <a:r>
              <a:rPr lang="en-US" sz="1200" dirty="0"/>
              <a:t>. </a:t>
            </a:r>
            <a:r>
              <a:rPr lang="en-US" sz="1200" dirty="0" err="1"/>
              <a:t>وأدى</a:t>
            </a:r>
            <a:r>
              <a:rPr lang="en-US" sz="1200" dirty="0"/>
              <a:t> </a:t>
            </a:r>
            <a:r>
              <a:rPr lang="en-US" sz="1200" dirty="0" err="1"/>
              <a:t>الحادث</a:t>
            </a:r>
            <a:r>
              <a:rPr lang="en-US" sz="1200" dirty="0"/>
              <a:t> </a:t>
            </a:r>
            <a:r>
              <a:rPr lang="en-US" sz="1200" dirty="0" err="1"/>
              <a:t>إلى</a:t>
            </a:r>
            <a:r>
              <a:rPr lang="en-US" sz="1200" dirty="0"/>
              <a:t> </a:t>
            </a:r>
            <a:r>
              <a:rPr lang="en-US" sz="1200" dirty="0" err="1"/>
              <a:t>تعليق</a:t>
            </a:r>
            <a:r>
              <a:rPr lang="en-US" sz="1200" dirty="0"/>
              <a:t> </a:t>
            </a:r>
            <a:r>
              <a:rPr lang="en-US" sz="1200" dirty="0" err="1"/>
              <a:t>الخدمة</a:t>
            </a:r>
            <a:r>
              <a:rPr lang="en-US" sz="1200" dirty="0"/>
              <a:t> </a:t>
            </a:r>
            <a:r>
              <a:rPr lang="en-US" sz="1200" dirty="0" err="1"/>
              <a:t>مؤقتًا</a:t>
            </a:r>
            <a:r>
              <a:rPr lang="en-US" sz="1200" dirty="0"/>
              <a:t> </a:t>
            </a:r>
            <a:r>
              <a:rPr lang="en-US" sz="1200" dirty="0" err="1"/>
              <a:t>في</a:t>
            </a:r>
            <a:r>
              <a:rPr lang="en-US" sz="1200" dirty="0"/>
              <a:t> </a:t>
            </a:r>
            <a:r>
              <a:rPr lang="en-US" sz="1200" dirty="0" err="1"/>
              <a:t>الولاية</a:t>
            </a:r>
            <a:r>
              <a:rPr lang="en-US" sz="1200" dirty="0"/>
              <a:t> </a:t>
            </a:r>
            <a:r>
              <a:rPr lang="en-US" sz="1200" dirty="0" err="1"/>
              <a:t>وإجراء</a:t>
            </a:r>
            <a:r>
              <a:rPr lang="en-US" sz="1200" dirty="0"/>
              <a:t> </a:t>
            </a:r>
            <a:r>
              <a:rPr lang="en-US" sz="1200" dirty="0" err="1"/>
              <a:t>مراجعة</a:t>
            </a:r>
            <a:r>
              <a:rPr lang="en-US" sz="1200" dirty="0"/>
              <a:t> </a:t>
            </a:r>
            <a:r>
              <a:rPr lang="en-US" sz="1200" dirty="0" err="1"/>
              <a:t>أوسع</a:t>
            </a:r>
            <a:r>
              <a:rPr lang="en-US" sz="1200" dirty="0"/>
              <a:t> </a:t>
            </a:r>
            <a:r>
              <a:rPr lang="en-US" sz="1200" dirty="0" err="1"/>
              <a:t>لترتيبات</a:t>
            </a:r>
            <a:r>
              <a:rPr lang="en-US" sz="1200" dirty="0"/>
              <a:t> </a:t>
            </a:r>
            <a:r>
              <a:rPr lang="en-US" sz="1200" dirty="0" err="1"/>
              <a:t>السلامة</a:t>
            </a:r>
            <a:r>
              <a:rPr lang="en-US" sz="1200" dirty="0"/>
              <a:t> </a:t>
            </a:r>
            <a:r>
              <a:rPr lang="en-US" sz="1200" dirty="0" err="1"/>
              <a:t>والتشغيل</a:t>
            </a:r>
            <a:r>
              <a:rPr lang="en-US" sz="1200" dirty="0"/>
              <a:t>.</a:t>
            </a:r>
            <a:endParaRPr sz="1200" dirty="0"/>
          </a:p>
          <a:p>
            <a:pPr indent="-292100" algn="r" rtl="1">
              <a:lnSpc>
                <a:spcPct val="100000"/>
              </a:lnSpc>
              <a:spcBef>
                <a:spcPts val="0"/>
              </a:spcBef>
              <a:buSzPts val="1000"/>
            </a:pPr>
            <a:r>
              <a:rPr lang="en-US" sz="1200" dirty="0" err="1"/>
              <a:t>أصبحت</a:t>
            </a:r>
            <a:r>
              <a:rPr lang="en-US" sz="1200" dirty="0"/>
              <a:t> </a:t>
            </a:r>
            <a:r>
              <a:rPr lang="en-US" sz="1200" dirty="0" err="1"/>
              <a:t>مشكلة</a:t>
            </a:r>
            <a:r>
              <a:rPr lang="en-US" sz="1200" dirty="0"/>
              <a:t> </a:t>
            </a:r>
            <a:r>
              <a:rPr lang="en-US" sz="1200" dirty="0" err="1"/>
              <a:t>الضباب</a:t>
            </a:r>
            <a:r>
              <a:rPr lang="en-US" sz="1200" dirty="0"/>
              <a:t> </a:t>
            </a:r>
            <a:r>
              <a:rPr lang="en-US" sz="1200" dirty="0" err="1"/>
              <a:t>الدخاني</a:t>
            </a:r>
            <a:r>
              <a:rPr lang="en-US" sz="1200" dirty="0"/>
              <a:t> </a:t>
            </a:r>
            <a:r>
              <a:rPr lang="en-US" sz="1200" dirty="0" err="1"/>
              <a:t>في</a:t>
            </a:r>
            <a:r>
              <a:rPr lang="en-US" sz="1200" dirty="0"/>
              <a:t> </a:t>
            </a:r>
            <a:r>
              <a:rPr lang="en-US" sz="1200" dirty="0" err="1"/>
              <a:t>ماليزيا</a:t>
            </a:r>
            <a:r>
              <a:rPr lang="en-US" sz="1200" dirty="0"/>
              <a:t> </a:t>
            </a:r>
            <a:r>
              <a:rPr lang="en-US" sz="1200" dirty="0" err="1"/>
              <a:t>قضية</a:t>
            </a:r>
            <a:r>
              <a:rPr lang="en-US" sz="1200" dirty="0"/>
              <a:t> </a:t>
            </a:r>
            <a:r>
              <a:rPr lang="en-US" sz="1200" dirty="0" err="1"/>
              <a:t>وطنية</a:t>
            </a:r>
            <a:r>
              <a:rPr lang="en-US" sz="1200" dirty="0"/>
              <a:t> </a:t>
            </a:r>
            <a:r>
              <a:rPr lang="en-US" sz="1200" dirty="0" err="1"/>
              <a:t>وإقليمية</a:t>
            </a:r>
            <a:r>
              <a:rPr lang="en-US" sz="1200" dirty="0"/>
              <a:t> </a:t>
            </a:r>
            <a:r>
              <a:rPr lang="en-US" sz="1200" dirty="0" err="1"/>
              <a:t>بارزة</a:t>
            </a:r>
            <a:r>
              <a:rPr lang="en-US" sz="1200" dirty="0"/>
              <a:t>، </a:t>
            </a:r>
            <a:r>
              <a:rPr lang="en-US" sz="1200" dirty="0" err="1"/>
              <a:t>بعد</a:t>
            </a:r>
            <a:r>
              <a:rPr lang="en-US" sz="1200" dirty="0"/>
              <a:t> </a:t>
            </a:r>
            <a:r>
              <a:rPr lang="en-US" sz="1200" dirty="0" err="1"/>
              <a:t>تسجيل</a:t>
            </a:r>
            <a:r>
              <a:rPr lang="en-US" sz="1200" dirty="0"/>
              <a:t> </a:t>
            </a:r>
            <a:r>
              <a:rPr lang="en-US" sz="1200" dirty="0" err="1"/>
              <a:t>مستويات</a:t>
            </a:r>
            <a:r>
              <a:rPr lang="en-US" sz="1200" dirty="0"/>
              <a:t> </a:t>
            </a:r>
            <a:r>
              <a:rPr lang="en-US" sz="1200" dirty="0" err="1"/>
              <a:t>غير</a:t>
            </a:r>
            <a:r>
              <a:rPr lang="en-US" sz="1200" dirty="0"/>
              <a:t> </a:t>
            </a:r>
            <a:r>
              <a:rPr lang="en-US" sz="1200" dirty="0" err="1"/>
              <a:t>صحية</a:t>
            </a:r>
            <a:r>
              <a:rPr lang="en-US" sz="1200" dirty="0"/>
              <a:t> </a:t>
            </a:r>
            <a:r>
              <a:rPr lang="en-US" sz="1200" dirty="0" err="1"/>
              <a:t>وخطيرة</a:t>
            </a:r>
            <a:r>
              <a:rPr lang="en-US" sz="1200" dirty="0"/>
              <a:t> </a:t>
            </a:r>
            <a:r>
              <a:rPr lang="en-US" sz="1200" dirty="0" err="1"/>
              <a:t>لجودة</a:t>
            </a:r>
            <a:r>
              <a:rPr lang="en-US" sz="1200" dirty="0"/>
              <a:t> </a:t>
            </a:r>
            <a:r>
              <a:rPr lang="en-US" sz="1200" dirty="0" err="1"/>
              <a:t>الهواء</a:t>
            </a:r>
            <a:r>
              <a:rPr lang="en-US" sz="1200" dirty="0"/>
              <a:t> </a:t>
            </a:r>
            <a:r>
              <a:rPr lang="en-US" sz="1200" dirty="0" err="1"/>
              <a:t>في</a:t>
            </a:r>
            <a:r>
              <a:rPr lang="en-US" sz="1200" dirty="0"/>
              <a:t> </a:t>
            </a:r>
            <a:r>
              <a:rPr lang="en-US" sz="1200" dirty="0" err="1"/>
              <a:t>أجزاء</a:t>
            </a:r>
            <a:r>
              <a:rPr lang="en-US" sz="1200" dirty="0"/>
              <a:t> </a:t>
            </a:r>
            <a:r>
              <a:rPr lang="en-US" sz="1200" dirty="0" err="1"/>
              <a:t>من</a:t>
            </a:r>
            <a:r>
              <a:rPr lang="en-US" sz="1200" dirty="0"/>
              <a:t> </a:t>
            </a:r>
            <a:r>
              <a:rPr lang="en-US" sz="1200" dirty="0" err="1"/>
              <a:t>ساراواك</a:t>
            </a:r>
            <a:r>
              <a:rPr lang="en-US" sz="1200" dirty="0"/>
              <a:t>. </a:t>
            </a:r>
            <a:r>
              <a:rPr lang="en-US" sz="1200" dirty="0" err="1"/>
              <a:t>ونقلت</a:t>
            </a:r>
            <a:r>
              <a:rPr lang="en-US" sz="1200" dirty="0"/>
              <a:t> </a:t>
            </a:r>
            <a:r>
              <a:rPr lang="en-US" sz="1200" dirty="0" err="1"/>
              <a:t>الحكومة</a:t>
            </a:r>
            <a:r>
              <a:rPr lang="en-US" sz="1200" dirty="0"/>
              <a:t> </a:t>
            </a:r>
            <a:r>
              <a:rPr lang="en-US" sz="1200" dirty="0" err="1"/>
              <a:t>فعاليات</a:t>
            </a:r>
            <a:r>
              <a:rPr lang="en-US" sz="1200" dirty="0"/>
              <a:t> </a:t>
            </a:r>
            <a:r>
              <a:rPr lang="en-US" sz="1200" dirty="0" err="1"/>
              <a:t>يوم</a:t>
            </a:r>
            <a:r>
              <a:rPr lang="en-US" sz="1200" dirty="0"/>
              <a:t> </a:t>
            </a:r>
            <a:r>
              <a:rPr lang="en-US" sz="1200" dirty="0" err="1"/>
              <a:t>ماليزيا</a:t>
            </a:r>
            <a:r>
              <a:rPr lang="en-US" sz="1200" dirty="0"/>
              <a:t> </a:t>
            </a:r>
            <a:r>
              <a:rPr lang="en-US" sz="1200" dirty="0" err="1"/>
              <a:t>في</a:t>
            </a:r>
            <a:r>
              <a:rPr lang="en-US" sz="1200" dirty="0"/>
              <a:t> </a:t>
            </a:r>
            <a:r>
              <a:rPr lang="en-US" sz="1200" dirty="0" err="1"/>
              <a:t>كوتشينغ</a:t>
            </a:r>
            <a:r>
              <a:rPr lang="en-US" sz="1200" dirty="0"/>
              <a:t> </a:t>
            </a:r>
            <a:r>
              <a:rPr lang="en-US" sz="1200" dirty="0" err="1"/>
              <a:t>إلى</a:t>
            </a:r>
            <a:r>
              <a:rPr lang="en-US" sz="1200" dirty="0"/>
              <a:t> </a:t>
            </a:r>
            <a:r>
              <a:rPr lang="en-US" sz="1200" dirty="0" err="1"/>
              <a:t>أماكن</a:t>
            </a:r>
            <a:r>
              <a:rPr lang="en-US" sz="1200" dirty="0"/>
              <a:t> </a:t>
            </a:r>
            <a:r>
              <a:rPr lang="en-US" sz="1200" dirty="0" err="1"/>
              <a:t>مغلقة</a:t>
            </a:r>
            <a:r>
              <a:rPr lang="en-US" sz="1200" dirty="0"/>
              <a:t>، </a:t>
            </a:r>
            <a:r>
              <a:rPr lang="en-US" sz="1200" dirty="0" err="1"/>
              <a:t>كما</a:t>
            </a:r>
            <a:r>
              <a:rPr lang="en-US" sz="1200" dirty="0"/>
              <a:t> </a:t>
            </a:r>
            <a:r>
              <a:rPr lang="en-US" sz="1200" dirty="0" err="1"/>
              <a:t>دعت</a:t>
            </a:r>
            <a:r>
              <a:rPr lang="en-US" sz="1200" dirty="0"/>
              <a:t> </a:t>
            </a:r>
            <a:r>
              <a:rPr lang="en-US" sz="1200" dirty="0" err="1"/>
              <a:t>إلى</a:t>
            </a:r>
            <a:r>
              <a:rPr lang="en-US" sz="1200" dirty="0"/>
              <a:t> </a:t>
            </a:r>
            <a:r>
              <a:rPr lang="en-US" sz="1200" dirty="0" err="1"/>
              <a:t>تعزيز</a:t>
            </a:r>
            <a:r>
              <a:rPr lang="en-US" sz="1200" dirty="0"/>
              <a:t> </a:t>
            </a:r>
            <a:r>
              <a:rPr lang="en-US" sz="1200" dirty="0" err="1"/>
              <a:t>التعاون</a:t>
            </a:r>
            <a:r>
              <a:rPr lang="en-US" sz="1200" dirty="0"/>
              <a:t> </a:t>
            </a:r>
            <a:r>
              <a:rPr lang="en-US" sz="1200" dirty="0" err="1"/>
              <a:t>بين</a:t>
            </a:r>
            <a:r>
              <a:rPr lang="en-US" sz="1200" dirty="0"/>
              <a:t> </a:t>
            </a:r>
            <a:r>
              <a:rPr lang="en-US" sz="1200" dirty="0" err="1"/>
              <a:t>دول</a:t>
            </a:r>
            <a:r>
              <a:rPr lang="en-US" sz="1200" dirty="0"/>
              <a:t> </a:t>
            </a:r>
            <a:r>
              <a:rPr lang="en-US" sz="1200" dirty="0" err="1"/>
              <a:t>آسيان</a:t>
            </a:r>
            <a:r>
              <a:rPr lang="en-US" sz="1200" dirty="0"/>
              <a:t> </a:t>
            </a:r>
            <a:r>
              <a:rPr lang="en-US" sz="1200" dirty="0" err="1"/>
              <a:t>لمواجهة</a:t>
            </a:r>
            <a:r>
              <a:rPr lang="en-US" sz="1200" dirty="0"/>
              <a:t> </a:t>
            </a:r>
            <a:r>
              <a:rPr lang="en-US" sz="1200" dirty="0" err="1"/>
              <a:t>مشكلة</a:t>
            </a:r>
            <a:r>
              <a:rPr lang="en-US" sz="1200" dirty="0"/>
              <a:t> </a:t>
            </a:r>
            <a:r>
              <a:rPr lang="en-US" sz="1200" dirty="0" err="1"/>
              <a:t>الضباب</a:t>
            </a:r>
            <a:r>
              <a:rPr lang="en-US" sz="1200" dirty="0"/>
              <a:t> </a:t>
            </a:r>
            <a:r>
              <a:rPr lang="en-US" sz="1200" dirty="0" err="1"/>
              <a:t>العابر</a:t>
            </a:r>
            <a:r>
              <a:rPr lang="en-US" sz="1200" dirty="0"/>
              <a:t> </a:t>
            </a:r>
            <a:r>
              <a:rPr lang="en-US" sz="1200" dirty="0" err="1"/>
              <a:t>للحدود</a:t>
            </a:r>
            <a:r>
              <a:rPr lang="en-US" sz="1200" dirty="0"/>
              <a:t>.</a:t>
            </a:r>
            <a:endParaRPr sz="1200" dirty="0"/>
          </a:p>
        </p:txBody>
      </p:sp>
      <p:sp>
        <p:nvSpPr>
          <p:cNvPr id="95" name="Google Shape;95;p3"/>
          <p:cNvSpPr/>
          <p:nvPr/>
        </p:nvSpPr>
        <p:spPr>
          <a:xfrm>
            <a:off x="553600" y="929681"/>
            <a:ext cx="11034000" cy="135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125" tIns="30150" rIns="0" bIns="30150" anchor="ctr" anchorCtr="0">
            <a:spAutoFit/>
          </a:bodyPr>
          <a:lstStyle/>
          <a:p>
            <a:pPr marL="457200" marR="0" lvl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dk1"/>
                </a:solidFill>
              </a:rPr>
              <a:t>ركّز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هذا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المنشور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على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منصة</a:t>
            </a:r>
            <a:r>
              <a:rPr lang="en-US" sz="1200" dirty="0">
                <a:solidFill>
                  <a:schemeClr val="dk1"/>
                </a:solidFill>
              </a:rPr>
              <a:t> X (</a:t>
            </a:r>
            <a:r>
              <a:rPr lang="en-US" sz="1200" dirty="0" err="1">
                <a:solidFill>
                  <a:schemeClr val="dk1"/>
                </a:solidFill>
              </a:rPr>
              <a:t>تويتر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سابقًا</a:t>
            </a:r>
            <a:r>
              <a:rPr lang="en-US" sz="1200" dirty="0">
                <a:solidFill>
                  <a:schemeClr val="dk1"/>
                </a:solidFill>
              </a:rPr>
              <a:t>) </a:t>
            </a:r>
            <a:r>
              <a:rPr lang="en-US" sz="1200" dirty="0" err="1">
                <a:solidFill>
                  <a:schemeClr val="dk1"/>
                </a:solidFill>
              </a:rPr>
              <a:t>على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تعزيز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العلاقات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بين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ماليزيا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والهند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من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خلال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الدبلوماسية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والتعاون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الاقتصادي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والتعاون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ضمن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مجموعة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بريكس</a:t>
            </a:r>
            <a:r>
              <a:rPr lang="en-US" sz="1200" dirty="0">
                <a:solidFill>
                  <a:schemeClr val="dk1"/>
                </a:solidFill>
              </a:rPr>
              <a:t>، </a:t>
            </a:r>
            <a:r>
              <a:rPr lang="en-US" sz="1200" dirty="0" err="1">
                <a:solidFill>
                  <a:schemeClr val="dk1"/>
                </a:solidFill>
              </a:rPr>
              <a:t>إلى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جانب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توطيد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الشراكات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الإقليمية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والدولية</a:t>
            </a:r>
            <a:r>
              <a:rPr lang="en-US" sz="1200" dirty="0">
                <a:solidFill>
                  <a:schemeClr val="dk1"/>
                </a:solidFill>
              </a:rPr>
              <a:t>. </a:t>
            </a:r>
            <a:r>
              <a:rPr lang="en-US" sz="1200" dirty="0" err="1">
                <a:solidFill>
                  <a:schemeClr val="dk1"/>
                </a:solidFill>
              </a:rPr>
              <a:t>وحقق</a:t>
            </a:r>
            <a:r>
              <a:rPr lang="en-US" sz="1200" dirty="0">
                <a:solidFill>
                  <a:schemeClr val="dk1"/>
                </a:solidFill>
              </a:rPr>
              <a:t> 5,200 </a:t>
            </a:r>
            <a:r>
              <a:rPr lang="en-US" sz="1200" dirty="0" err="1">
                <a:solidFill>
                  <a:schemeClr val="dk1"/>
                </a:solidFill>
              </a:rPr>
              <a:t>مشاهدة</a:t>
            </a:r>
            <a:r>
              <a:rPr lang="en-US" sz="1200" dirty="0">
                <a:solidFill>
                  <a:schemeClr val="dk1"/>
                </a:solidFill>
              </a:rPr>
              <a:t> و12 </a:t>
            </a:r>
            <a:r>
              <a:rPr lang="en-US" sz="1200" dirty="0" err="1">
                <a:solidFill>
                  <a:schemeClr val="dk1"/>
                </a:solidFill>
              </a:rPr>
              <a:t>إعجابًا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  <a:endParaRPr sz="1200" dirty="0">
              <a:solidFill>
                <a:schemeClr val="dk1"/>
              </a:solidFill>
            </a:endParaRPr>
          </a:p>
          <a:p>
            <a:pPr marL="457200" marR="0" lvl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dk1"/>
                </a:solidFill>
              </a:rPr>
              <a:t>ركّز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هذا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المنشور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على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تيك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توك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على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التطورات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السياسية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في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ماليزيا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والتصريحات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العامة</a:t>
            </a:r>
            <a:r>
              <a:rPr lang="en-US" sz="1200" dirty="0">
                <a:solidFill>
                  <a:schemeClr val="dk1"/>
                </a:solidFill>
              </a:rPr>
              <a:t>، </a:t>
            </a:r>
            <a:r>
              <a:rPr lang="en-US" sz="1200" dirty="0" err="1">
                <a:solidFill>
                  <a:schemeClr val="dk1"/>
                </a:solidFill>
              </a:rPr>
              <a:t>مع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تسليط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الضوء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على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القضايا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الراهنة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والشخصيات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السياسية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وتفاعل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الجمهور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مع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المحتوى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السياسي</a:t>
            </a:r>
            <a:r>
              <a:rPr lang="en-US" sz="1200" dirty="0">
                <a:solidFill>
                  <a:schemeClr val="dk1"/>
                </a:solidFill>
              </a:rPr>
              <a:t>. </a:t>
            </a:r>
            <a:r>
              <a:rPr lang="en-US" sz="1200" dirty="0" err="1">
                <a:solidFill>
                  <a:schemeClr val="dk1"/>
                </a:solidFill>
              </a:rPr>
              <a:t>وحقق</a:t>
            </a:r>
            <a:r>
              <a:rPr lang="en-US" sz="1200" dirty="0">
                <a:solidFill>
                  <a:schemeClr val="dk1"/>
                </a:solidFill>
              </a:rPr>
              <a:t> 82 </a:t>
            </a:r>
            <a:r>
              <a:rPr lang="en-US" sz="1200" dirty="0" err="1">
                <a:solidFill>
                  <a:schemeClr val="dk1"/>
                </a:solidFill>
              </a:rPr>
              <a:t>ألف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مشاهدة</a:t>
            </a:r>
            <a:r>
              <a:rPr lang="en-US" sz="1200" dirty="0">
                <a:solidFill>
                  <a:schemeClr val="dk1"/>
                </a:solidFill>
              </a:rPr>
              <a:t> و1,739 </a:t>
            </a:r>
            <a:r>
              <a:rPr lang="en-US" sz="1200" dirty="0" err="1">
                <a:solidFill>
                  <a:schemeClr val="dk1"/>
                </a:solidFill>
              </a:rPr>
              <a:t>إعجابًا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  <a:endParaRPr sz="1200" dirty="0">
              <a:solidFill>
                <a:schemeClr val="dk1"/>
              </a:solidFill>
            </a:endParaRPr>
          </a:p>
          <a:p>
            <a:pPr marL="457200" marR="0" lvl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dk1"/>
                </a:solidFill>
              </a:rPr>
              <a:t>ركّز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المحتوى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المنشور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على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فيسبوك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على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الشأن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السياسي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الماليزي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ورسالة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سياسية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موجهة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للجمهور</a:t>
            </a:r>
            <a:r>
              <a:rPr lang="en-US" sz="1200" dirty="0">
                <a:solidFill>
                  <a:schemeClr val="dk1"/>
                </a:solidFill>
              </a:rPr>
              <a:t>، </a:t>
            </a:r>
            <a:r>
              <a:rPr lang="en-US" sz="1200" dirty="0" err="1">
                <a:solidFill>
                  <a:schemeClr val="dk1"/>
                </a:solidFill>
              </a:rPr>
              <a:t>حيث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عكست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معدلات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التفاعل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استجابة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الجمهور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للموضوع</a:t>
            </a:r>
            <a:r>
              <a:rPr lang="en-US" sz="1200" dirty="0">
                <a:solidFill>
                  <a:schemeClr val="dk1"/>
                </a:solidFill>
              </a:rPr>
              <a:t>. </a:t>
            </a:r>
            <a:r>
              <a:rPr lang="en-US" sz="1200" dirty="0" err="1">
                <a:solidFill>
                  <a:schemeClr val="dk1"/>
                </a:solidFill>
              </a:rPr>
              <a:t>وحقق</a:t>
            </a:r>
            <a:r>
              <a:rPr lang="en-US" sz="1200" dirty="0">
                <a:solidFill>
                  <a:schemeClr val="dk1"/>
                </a:solidFill>
              </a:rPr>
              <a:t> 36 </a:t>
            </a:r>
            <a:r>
              <a:rPr lang="en-US" sz="1200" dirty="0" err="1">
                <a:solidFill>
                  <a:schemeClr val="dk1"/>
                </a:solidFill>
              </a:rPr>
              <a:t>ألف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مشاهدة</a:t>
            </a:r>
            <a:r>
              <a:rPr lang="en-US" sz="1200" dirty="0">
                <a:solidFill>
                  <a:schemeClr val="dk1"/>
                </a:solidFill>
              </a:rPr>
              <a:t> و541 </a:t>
            </a:r>
            <a:r>
              <a:rPr lang="en-US" sz="1200" dirty="0" err="1">
                <a:solidFill>
                  <a:schemeClr val="dk1"/>
                </a:solidFill>
              </a:rPr>
              <a:t>إعجابًا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  <a:endParaRPr sz="1200" dirty="0">
              <a:solidFill>
                <a:schemeClr val="dk1"/>
              </a:solidFill>
            </a:endParaRPr>
          </a:p>
          <a:p>
            <a:pPr marL="457200" marR="0" lvl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dk1"/>
                </a:solidFill>
              </a:rPr>
              <a:t>ركّز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هذا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المنشور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على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فيسبوك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على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النقاش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والتفاعل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العام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حول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إحدى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القضايا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الوطنية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الراهنة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أو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تصريح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سياسي</a:t>
            </a:r>
            <a:r>
              <a:rPr lang="en-US" sz="1200" dirty="0">
                <a:solidFill>
                  <a:schemeClr val="dk1"/>
                </a:solidFill>
              </a:rPr>
              <a:t>. </a:t>
            </a:r>
            <a:r>
              <a:rPr lang="en-US" sz="1200" dirty="0" err="1">
                <a:solidFill>
                  <a:schemeClr val="dk1"/>
                </a:solidFill>
              </a:rPr>
              <a:t>وحقق</a:t>
            </a:r>
            <a:r>
              <a:rPr lang="en-US" sz="1200" dirty="0">
                <a:solidFill>
                  <a:schemeClr val="dk1"/>
                </a:solidFill>
              </a:rPr>
              <a:t> 10 </a:t>
            </a:r>
            <a:r>
              <a:rPr lang="en-US" sz="1200" dirty="0" err="1">
                <a:solidFill>
                  <a:schemeClr val="dk1"/>
                </a:solidFill>
              </a:rPr>
              <a:t>آلاف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مشاهدة</a:t>
            </a:r>
            <a:r>
              <a:rPr lang="en-US" sz="1200" dirty="0">
                <a:solidFill>
                  <a:schemeClr val="dk1"/>
                </a:solidFill>
              </a:rPr>
              <a:t> و141 </a:t>
            </a:r>
            <a:r>
              <a:rPr lang="en-US" sz="1200" dirty="0" err="1">
                <a:solidFill>
                  <a:schemeClr val="dk1"/>
                </a:solidFill>
              </a:rPr>
              <a:t>إعجابًا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  <a:endParaRPr sz="1200" dirty="0">
              <a:solidFill>
                <a:schemeClr val="dk1"/>
              </a:solidFill>
            </a:endParaRPr>
          </a:p>
          <a:p>
            <a:pPr marL="457200" marR="0" lvl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dk1"/>
                </a:solidFill>
              </a:rPr>
              <a:t>ركّز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هذا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المنشور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على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فيسبوك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على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الدعوة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إلى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اتخاذ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إجراءات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أكثر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صرامة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لمكافحة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الفساد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والمخالفات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المالية</a:t>
            </a:r>
            <a:r>
              <a:rPr lang="en-US" sz="1200" dirty="0">
                <a:solidFill>
                  <a:schemeClr val="dk1"/>
                </a:solidFill>
              </a:rPr>
              <a:t>، </a:t>
            </a:r>
            <a:r>
              <a:rPr lang="en-US" sz="1200" dirty="0" err="1">
                <a:solidFill>
                  <a:schemeClr val="dk1"/>
                </a:solidFill>
              </a:rPr>
              <a:t>وتعزيز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سيادة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القانون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والمساءلة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وحماية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المصلحة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الوطنية</a:t>
            </a:r>
            <a:r>
              <a:rPr lang="en-US" sz="1200" dirty="0">
                <a:solidFill>
                  <a:schemeClr val="dk1"/>
                </a:solidFill>
              </a:rPr>
              <a:t>. </a:t>
            </a:r>
            <a:r>
              <a:rPr lang="en-US" sz="1200" dirty="0" err="1">
                <a:solidFill>
                  <a:schemeClr val="dk1"/>
                </a:solidFill>
              </a:rPr>
              <a:t>وحقق</a:t>
            </a:r>
            <a:r>
              <a:rPr lang="en-US" sz="1200" dirty="0">
                <a:solidFill>
                  <a:schemeClr val="dk1"/>
                </a:solidFill>
              </a:rPr>
              <a:t> 6,500 </a:t>
            </a:r>
            <a:r>
              <a:rPr lang="en-US" sz="1200" dirty="0" err="1">
                <a:solidFill>
                  <a:schemeClr val="dk1"/>
                </a:solidFill>
              </a:rPr>
              <a:t>مشاهدة</a:t>
            </a:r>
            <a:r>
              <a:rPr lang="en-US" sz="1200" dirty="0">
                <a:solidFill>
                  <a:schemeClr val="dk1"/>
                </a:solidFill>
              </a:rPr>
              <a:t> و129 </a:t>
            </a:r>
            <a:r>
              <a:rPr lang="en-US" sz="1200" dirty="0" err="1">
                <a:solidFill>
                  <a:schemeClr val="dk1"/>
                </a:solidFill>
              </a:rPr>
              <a:t>إعجابًا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767999" y="3028396"/>
            <a:ext cx="108450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298450" algn="r" rtl="1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dk1"/>
                </a:solidFill>
              </a:rPr>
              <a:t>سلطت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b="1" dirty="0" err="1">
                <a:solidFill>
                  <a:schemeClr val="dk1"/>
                </a:solidFill>
              </a:rPr>
              <a:t>قمة</a:t>
            </a:r>
            <a:r>
              <a:rPr lang="en-US" sz="1200" b="1" dirty="0">
                <a:solidFill>
                  <a:schemeClr val="dk1"/>
                </a:solidFill>
              </a:rPr>
              <a:t> </a:t>
            </a:r>
            <a:r>
              <a:rPr lang="en-US" sz="1200" b="1" dirty="0" err="1">
                <a:solidFill>
                  <a:schemeClr val="dk1"/>
                </a:solidFill>
              </a:rPr>
              <a:t>قادة</a:t>
            </a:r>
            <a:r>
              <a:rPr lang="en-US" sz="1200" b="1" dirty="0">
                <a:solidFill>
                  <a:schemeClr val="dk1"/>
                </a:solidFill>
              </a:rPr>
              <a:t> </a:t>
            </a:r>
            <a:r>
              <a:rPr lang="en-US" sz="1200" b="1" dirty="0" err="1">
                <a:solidFill>
                  <a:schemeClr val="dk1"/>
                </a:solidFill>
              </a:rPr>
              <a:t>بريكس</a:t>
            </a:r>
            <a:r>
              <a:rPr lang="en-US" sz="1200" b="1" dirty="0">
                <a:solidFill>
                  <a:schemeClr val="dk1"/>
                </a:solidFill>
              </a:rPr>
              <a:t> 2026 </a:t>
            </a:r>
            <a:r>
              <a:rPr lang="en-US" sz="1200" b="1" dirty="0" err="1">
                <a:solidFill>
                  <a:schemeClr val="dk1"/>
                </a:solidFill>
              </a:rPr>
              <a:t>في</a:t>
            </a:r>
            <a:r>
              <a:rPr lang="en-US" sz="1200" b="1" dirty="0">
                <a:solidFill>
                  <a:schemeClr val="dk1"/>
                </a:solidFill>
              </a:rPr>
              <a:t> </a:t>
            </a:r>
            <a:r>
              <a:rPr lang="en-US" sz="1200" b="1" dirty="0" err="1">
                <a:solidFill>
                  <a:schemeClr val="dk1"/>
                </a:solidFill>
              </a:rPr>
              <a:t>الهند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الضوء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على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المصالح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الدبلوماسية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والاقتصادية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لماليزيا</a:t>
            </a:r>
            <a:r>
              <a:rPr lang="en-US" sz="1200" dirty="0">
                <a:solidFill>
                  <a:schemeClr val="dk1"/>
                </a:solidFill>
              </a:rPr>
              <a:t>، </a:t>
            </a:r>
            <a:r>
              <a:rPr lang="en-US" sz="1200" dirty="0" err="1">
                <a:solidFill>
                  <a:schemeClr val="dk1"/>
                </a:solidFill>
              </a:rPr>
              <a:t>حيث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مثّل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رئيس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الوزراء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أنور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إبراهيم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بلاده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وأجرى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مباحثات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مع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قادة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من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الهند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وروسيا</a:t>
            </a:r>
            <a:r>
              <a:rPr lang="en-US" sz="1200" dirty="0">
                <a:solidFill>
                  <a:schemeClr val="dk1"/>
                </a:solidFill>
              </a:rPr>
              <a:t>، </a:t>
            </a:r>
            <a:r>
              <a:rPr lang="en-US" sz="1200" dirty="0" err="1">
                <a:solidFill>
                  <a:schemeClr val="dk1"/>
                </a:solidFill>
              </a:rPr>
              <a:t>شملت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جهودًا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لتعميق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التعاون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في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مجالات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التجارة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والاستثمار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وأشباه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الموصلات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dk1"/>
                </a:solidFill>
              </a:rPr>
              <a:t>أصبحت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قضية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العفو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عن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رئيس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الوزراء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الماليزي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الأسبق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b="1" dirty="0" err="1">
                <a:solidFill>
                  <a:schemeClr val="dk1"/>
                </a:solidFill>
              </a:rPr>
              <a:t>نجيب</a:t>
            </a:r>
            <a:r>
              <a:rPr lang="en-US" sz="1200" b="1" dirty="0">
                <a:solidFill>
                  <a:schemeClr val="dk1"/>
                </a:solidFill>
              </a:rPr>
              <a:t> </a:t>
            </a:r>
            <a:r>
              <a:rPr lang="en-US" sz="1200" b="1" dirty="0" err="1">
                <a:solidFill>
                  <a:schemeClr val="dk1"/>
                </a:solidFill>
              </a:rPr>
              <a:t>رزاق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من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أبرز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التطورات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السياسية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والقانونية</a:t>
            </a:r>
            <a:r>
              <a:rPr lang="en-US" sz="1200" dirty="0">
                <a:solidFill>
                  <a:schemeClr val="dk1"/>
                </a:solidFill>
              </a:rPr>
              <a:t>، </a:t>
            </a:r>
            <a:r>
              <a:rPr lang="en-US" sz="1200" dirty="0" err="1">
                <a:solidFill>
                  <a:schemeClr val="dk1"/>
                </a:solidFill>
              </a:rPr>
              <a:t>بدءًا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من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تأجيل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طلب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العفو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عنه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في</a:t>
            </a:r>
            <a:r>
              <a:rPr lang="en-US" sz="1200" dirty="0">
                <a:solidFill>
                  <a:schemeClr val="dk1"/>
                </a:solidFill>
              </a:rPr>
              <a:t> 11 </a:t>
            </a:r>
            <a:r>
              <a:rPr lang="en-US" sz="1200" dirty="0" err="1">
                <a:solidFill>
                  <a:schemeClr val="dk1"/>
                </a:solidFill>
              </a:rPr>
              <a:t>سبتمبر</a:t>
            </a:r>
            <a:r>
              <a:rPr lang="en-US" sz="1200" dirty="0">
                <a:solidFill>
                  <a:schemeClr val="dk1"/>
                </a:solidFill>
              </a:rPr>
              <a:t>، </a:t>
            </a:r>
            <a:r>
              <a:rPr lang="en-US" sz="1200" dirty="0" err="1">
                <a:solidFill>
                  <a:schemeClr val="dk1"/>
                </a:solidFill>
              </a:rPr>
              <a:t>وصولًا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إلى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قرار</a:t>
            </a:r>
            <a:r>
              <a:rPr lang="en-US" sz="1200" dirty="0">
                <a:solidFill>
                  <a:schemeClr val="dk1"/>
                </a:solidFill>
              </a:rPr>
              <a:t> 18 </a:t>
            </a:r>
            <a:r>
              <a:rPr lang="en-US" sz="1200" dirty="0" err="1">
                <a:solidFill>
                  <a:schemeClr val="dk1"/>
                </a:solidFill>
              </a:rPr>
              <a:t>سبتمبر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الذي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سمح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له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بقضاء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ما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تبقى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من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عقوبته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قيد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الإقامة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الجبرية</a:t>
            </a:r>
            <a:r>
              <a:rPr lang="en-US" sz="1200" dirty="0">
                <a:solidFill>
                  <a:schemeClr val="dk1"/>
                </a:solidFill>
              </a:rPr>
              <a:t>. </a:t>
            </a:r>
            <a:r>
              <a:rPr lang="en-US" sz="1200" dirty="0" err="1">
                <a:solidFill>
                  <a:schemeClr val="dk1"/>
                </a:solidFill>
              </a:rPr>
              <a:t>وأثار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القرار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خلافات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داخل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الائتلاف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الحاكم</a:t>
            </a:r>
            <a:r>
              <a:rPr lang="en-US" sz="1200" dirty="0">
                <a:solidFill>
                  <a:schemeClr val="dk1"/>
                </a:solidFill>
              </a:rPr>
              <a:t>، </a:t>
            </a:r>
            <a:r>
              <a:rPr lang="en-US" sz="1200" dirty="0" err="1">
                <a:solidFill>
                  <a:schemeClr val="dk1"/>
                </a:solidFill>
              </a:rPr>
              <a:t>وأعاد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النقاش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حول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قضايا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العفو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والفساد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والمساءلة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المؤسسية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  <a:endParaRPr sz="1200" dirty="0">
              <a:solidFill>
                <a:schemeClr val="dk1"/>
              </a:solidFill>
            </a:endParaRPr>
          </a:p>
          <a:p>
            <a:pPr marL="171450" marR="0" lvl="0" indent="-171450" algn="r" rtl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200" dirty="0"/>
          </a:p>
        </p:txBody>
      </p:sp>
      <p:sp>
        <p:nvSpPr>
          <p:cNvPr id="2" name="Google Shape;96;g3ee72b57672_0_0">
            <a:extLst>
              <a:ext uri="{FF2B5EF4-FFF2-40B4-BE49-F238E27FC236}">
                <a16:creationId xmlns="" xmlns:a16="http://schemas.microsoft.com/office/drawing/2014/main" id="{63420E4B-D948-7990-50B6-5965764D39CE}"/>
              </a:ext>
            </a:extLst>
          </p:cNvPr>
          <p:cNvSpPr txBox="1">
            <a:spLocks/>
          </p:cNvSpPr>
          <p:nvPr/>
        </p:nvSpPr>
        <p:spPr>
          <a:xfrm>
            <a:off x="6318629" y="-47683"/>
            <a:ext cx="5084100" cy="8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 spc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rtl="1">
              <a:buClr>
                <a:srgbClr val="5B4D2B"/>
              </a:buClr>
              <a:buSzPct val="100000"/>
              <a:buFont typeface="Alexandria"/>
              <a:buNone/>
            </a:pPr>
            <a:r>
              <a:rPr lang="ar-SA" sz="3200" dirty="0">
                <a:solidFill>
                  <a:srgbClr val="5B4D2B"/>
                </a:solidFill>
                <a:latin typeface="Alexandria"/>
                <a:ea typeface="Alexandria"/>
                <a:cs typeface="Alexandria"/>
                <a:sym typeface="Alexandria"/>
              </a:rPr>
              <a:t/>
            </a:r>
            <a:br>
              <a:rPr lang="ar-SA" sz="3200" dirty="0">
                <a:solidFill>
                  <a:srgbClr val="5B4D2B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ar-SA" sz="3200" dirty="0">
                <a:solidFill>
                  <a:srgbClr val="5B4D2B"/>
                </a:solidFill>
                <a:latin typeface="Alexandria"/>
                <a:ea typeface="Alexandria"/>
                <a:cs typeface="Alexandria"/>
                <a:sym typeface="Alexandria"/>
              </a:rPr>
              <a:t>الإنجازات    </a:t>
            </a:r>
          </a:p>
        </p:txBody>
      </p:sp>
      <p:sp>
        <p:nvSpPr>
          <p:cNvPr id="3" name="Google Shape;100;g3ee72b57672_0_0">
            <a:extLst>
              <a:ext uri="{FF2B5EF4-FFF2-40B4-BE49-F238E27FC236}">
                <a16:creationId xmlns="" xmlns:a16="http://schemas.microsoft.com/office/drawing/2014/main" id="{2D57BF14-93DE-E832-E9B3-A188EB0396E4}"/>
              </a:ext>
            </a:extLst>
          </p:cNvPr>
          <p:cNvSpPr txBox="1"/>
          <p:nvPr/>
        </p:nvSpPr>
        <p:spPr>
          <a:xfrm>
            <a:off x="8095000" y="2428096"/>
            <a:ext cx="3492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ar-SA" sz="3000" b="0" i="0" u="none" strike="noStrike" cap="none">
                <a:solidFill>
                  <a:srgbClr val="5B4D2B"/>
                </a:solidFill>
                <a:latin typeface="Alexandria"/>
                <a:ea typeface="Alexandria"/>
                <a:cs typeface="Alexandria"/>
                <a:sym typeface="Alexandria"/>
              </a:rPr>
              <a:t>آخر التطورات</a:t>
            </a:r>
            <a:endParaRPr sz="3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03;g3ee72b57672_0_0">
            <a:extLst>
              <a:ext uri="{FF2B5EF4-FFF2-40B4-BE49-F238E27FC236}">
                <a16:creationId xmlns="" xmlns:a16="http://schemas.microsoft.com/office/drawing/2014/main" id="{79B13768-A31F-67C6-82DF-7476B5F46E3D}"/>
              </a:ext>
            </a:extLst>
          </p:cNvPr>
          <p:cNvSpPr txBox="1"/>
          <p:nvPr/>
        </p:nvSpPr>
        <p:spPr>
          <a:xfrm>
            <a:off x="4310499" y="4148052"/>
            <a:ext cx="7383600" cy="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lang="ar-SA" sz="2850" b="0" i="0" u="none" strike="noStrike" cap="none" dirty="0">
                <a:solidFill>
                  <a:srgbClr val="5B4D2B"/>
                </a:solidFill>
                <a:latin typeface="Alexandria"/>
                <a:ea typeface="Alexandria"/>
                <a:cs typeface="Alexandria"/>
                <a:sym typeface="Alexandria"/>
              </a:rPr>
              <a:t> أبرز الأحداث التي تم تغطيتها</a:t>
            </a:r>
            <a:endParaRPr sz="2850" b="0" i="0" u="none" strike="noStrike" cap="none" dirty="0">
              <a:solidFill>
                <a:srgbClr val="A9925F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  <p:extLst>
      <p:ext uri="{BB962C8B-B14F-4D97-AF65-F5344CB8AC3E}">
        <p14:creationId xmlns:p14="http://schemas.microsoft.com/office/powerpoint/2010/main" val="3310743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/>
        </p:nvSpPr>
        <p:spPr>
          <a:xfrm>
            <a:off x="0" y="6581001"/>
            <a:ext cx="972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26987" y="3732158"/>
            <a:ext cx="11141400" cy="1930500"/>
          </a:xfrm>
          <a:prstGeom prst="roundRect">
            <a:avLst>
              <a:gd name="adj" fmla="val 9394"/>
            </a:avLst>
          </a:prstGeom>
          <a:solidFill>
            <a:srgbClr val="A9925F">
              <a:alpha val="7450"/>
            </a:srgbClr>
          </a:solidFill>
          <a:ln w="9525" cap="flat" cmpd="sng">
            <a:solidFill>
              <a:srgbClr val="A9925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10144067" y="3394571"/>
            <a:ext cx="1605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AE" sz="1400" b="1" i="0" u="none" strike="noStrike" dirty="0">
                <a:solidFill>
                  <a:srgbClr val="5B4D2B"/>
                </a:solidFill>
                <a:effectLst/>
                <a:latin typeface="Arial" panose="020B0604020202020204" pitchFamily="34" charset="0"/>
              </a:rPr>
              <a:t>لقطات الشاشة</a:t>
            </a:r>
            <a:endParaRPr lang="ar-AE" sz="1100" b="1" i="0" u="none" strike="noStrike" cap="none" dirty="0">
              <a:solidFill>
                <a:srgbClr val="5B4D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1012805" y="283344"/>
            <a:ext cx="317700" cy="49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26987" y="1195343"/>
            <a:ext cx="11141400" cy="1930500"/>
          </a:xfrm>
          <a:prstGeom prst="roundRect">
            <a:avLst>
              <a:gd name="adj" fmla="val 9394"/>
            </a:avLst>
          </a:prstGeom>
          <a:solidFill>
            <a:srgbClr val="A9925F">
              <a:alpha val="7451"/>
            </a:srgbClr>
          </a:solidFill>
          <a:ln w="9525" cap="flat" cmpd="sng">
            <a:solidFill>
              <a:srgbClr val="A9925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10106929" y="833393"/>
            <a:ext cx="1605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AE" b="1" dirty="0">
                <a:solidFill>
                  <a:srgbClr val="5B4D2B"/>
                </a:solidFill>
              </a:rPr>
              <a:t>لقطات الشاشة</a:t>
            </a:r>
          </a:p>
        </p:txBody>
      </p:sp>
      <p:pic>
        <p:nvPicPr>
          <p:cNvPr id="12" name="Google Shape;270;g40a0d73ebdd_0_227" title="Screenshot 2026-09-21 052714.png">
            <a:extLst>
              <a:ext uri="{FF2B5EF4-FFF2-40B4-BE49-F238E27FC236}">
                <a16:creationId xmlns="" xmlns:a16="http://schemas.microsoft.com/office/drawing/2014/main" id="{66753D30-A829-289B-3505-6FE1A0EE5A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480" b="2490"/>
          <a:stretch/>
        </p:blipFill>
        <p:spPr>
          <a:xfrm>
            <a:off x="486450" y="1387599"/>
            <a:ext cx="3449256" cy="1545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58;g40a0d73ebdd_0_304" title="Screenshot 2026-09-21 062027.png">
            <a:extLst>
              <a:ext uri="{FF2B5EF4-FFF2-40B4-BE49-F238E27FC236}">
                <a16:creationId xmlns="" xmlns:a16="http://schemas.microsoft.com/office/drawing/2014/main" id="{F935AEE0-CE94-BA1F-B099-1A98F9AC131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9" r="239"/>
          <a:stretch/>
        </p:blipFill>
        <p:spPr>
          <a:xfrm>
            <a:off x="486450" y="3940263"/>
            <a:ext cx="2638401" cy="1314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40751E50-10DC-E50F-2831-D6FE54C2B7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1127" y="1264868"/>
            <a:ext cx="1353900" cy="17550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C7E7083B-117C-9727-069D-95D2D4773B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5144" y="3818613"/>
            <a:ext cx="1260944" cy="17575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E49BFD78-B7AF-2BE3-A3FA-BDC843F10C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2373" y="1247332"/>
            <a:ext cx="1309349" cy="18265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BECC4351-1404-4C81-EBD6-F0C330CD74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2153" y="1235853"/>
            <a:ext cx="1231131" cy="17840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FDF75047-E422-C50A-9E4A-8FDCBFA26D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4275" y="1293114"/>
            <a:ext cx="1140161" cy="17575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D5233410-AB08-0ABA-F6C6-BCDE2530C6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5030" y="1281679"/>
            <a:ext cx="1641899" cy="173824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DB543EE5-AB66-33D3-CD49-1CF2B98C0D7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6405" y="3777707"/>
            <a:ext cx="1580642" cy="171432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C5D67FC3-8869-0591-4521-4FBE4B892A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14215" y="3862438"/>
            <a:ext cx="3471295" cy="151678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4B03EDE1-B773-D1D9-9237-651E86F049F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1019" y="3818612"/>
            <a:ext cx="1214895" cy="175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177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ab93fd4f2_0_6"/>
          <p:cNvSpPr txBox="1"/>
          <p:nvPr/>
        </p:nvSpPr>
        <p:spPr>
          <a:xfrm>
            <a:off x="0" y="6581001"/>
            <a:ext cx="972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fab93fd4f2_0_6"/>
          <p:cNvSpPr/>
          <p:nvPr/>
        </p:nvSpPr>
        <p:spPr>
          <a:xfrm>
            <a:off x="426987" y="3732158"/>
            <a:ext cx="11141400" cy="1930500"/>
          </a:xfrm>
          <a:prstGeom prst="roundRect">
            <a:avLst>
              <a:gd name="adj" fmla="val 9394"/>
            </a:avLst>
          </a:prstGeom>
          <a:solidFill>
            <a:srgbClr val="A9925F">
              <a:alpha val="7450"/>
            </a:srgbClr>
          </a:solidFill>
          <a:ln w="9525" cap="flat" cmpd="sng">
            <a:solidFill>
              <a:srgbClr val="A9925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fab93fd4f2_0_6"/>
          <p:cNvSpPr txBox="1"/>
          <p:nvPr/>
        </p:nvSpPr>
        <p:spPr>
          <a:xfrm>
            <a:off x="10144067" y="3394571"/>
            <a:ext cx="1605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AE" sz="1400" b="1" i="0" u="none" strike="noStrike" dirty="0">
                <a:solidFill>
                  <a:srgbClr val="5B4D2B"/>
                </a:solidFill>
                <a:effectLst/>
                <a:latin typeface="Arial" panose="020B0604020202020204" pitchFamily="34" charset="0"/>
              </a:rPr>
              <a:t>لقطات الشاشة</a:t>
            </a:r>
            <a:endParaRPr lang="ar-AE" sz="1100" b="1" i="0" u="none" strike="noStrike" cap="none" dirty="0">
              <a:solidFill>
                <a:srgbClr val="5B4D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fab93fd4f2_0_6"/>
          <p:cNvSpPr/>
          <p:nvPr/>
        </p:nvSpPr>
        <p:spPr>
          <a:xfrm>
            <a:off x="11012805" y="283344"/>
            <a:ext cx="317700" cy="49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fab93fd4f2_0_6"/>
          <p:cNvSpPr/>
          <p:nvPr/>
        </p:nvSpPr>
        <p:spPr>
          <a:xfrm>
            <a:off x="426987" y="1195343"/>
            <a:ext cx="11141400" cy="1930500"/>
          </a:xfrm>
          <a:prstGeom prst="roundRect">
            <a:avLst>
              <a:gd name="adj" fmla="val 9394"/>
            </a:avLst>
          </a:prstGeom>
          <a:solidFill>
            <a:srgbClr val="A9925F">
              <a:alpha val="7450"/>
            </a:srgbClr>
          </a:solidFill>
          <a:ln w="9525" cap="flat" cmpd="sng">
            <a:solidFill>
              <a:srgbClr val="A9925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fab93fd4f2_0_6"/>
          <p:cNvSpPr txBox="1"/>
          <p:nvPr/>
        </p:nvSpPr>
        <p:spPr>
          <a:xfrm>
            <a:off x="10106929" y="833393"/>
            <a:ext cx="1605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AE" sz="1400" b="1" i="0" u="none" strike="noStrike" dirty="0">
                <a:solidFill>
                  <a:srgbClr val="5B4D2B"/>
                </a:solidFill>
                <a:effectLst/>
                <a:latin typeface="Arial" panose="020B0604020202020204" pitchFamily="34" charset="0"/>
              </a:rPr>
              <a:t>لقطات الشاشة</a:t>
            </a:r>
            <a:endParaRPr lang="ar-AE" sz="1100" b="1" i="0" u="none" strike="noStrike" cap="none" dirty="0">
              <a:solidFill>
                <a:srgbClr val="5B4D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F25F6A1F-A3CD-2324-2DA2-CF4F54FA8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14" y="1299516"/>
            <a:ext cx="2181044" cy="17214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BA0DD4BA-46F8-175B-0449-D054A21C61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9604"/>
          <a:stretch/>
        </p:blipFill>
        <p:spPr>
          <a:xfrm>
            <a:off x="3001285" y="1402354"/>
            <a:ext cx="2691778" cy="14114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6FF1D37B-32D1-7B73-36DB-A41DBE4386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13" y="3922237"/>
            <a:ext cx="2947119" cy="14663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C2589361-B62D-5B3C-50EA-B11D4B30E3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6657" y="1251462"/>
            <a:ext cx="1244564" cy="18280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C5659871-34A5-AE3A-BADA-1EE6C4977C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7358" y="3907490"/>
            <a:ext cx="1737057" cy="15798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30E36BD3-F667-47F3-3CB4-CC639AA446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4815" y="1251462"/>
            <a:ext cx="1460247" cy="17667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330A35AA-F631-FA68-D7DA-1C44C0402C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0109" y="3821041"/>
            <a:ext cx="1562074" cy="175273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6187F4A2-C43A-246B-7195-9DE427DB17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01041" y="3801750"/>
            <a:ext cx="1210062" cy="180478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1DF958B6-53D4-6788-4669-6A7AD4583D6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23706" y="1561373"/>
            <a:ext cx="2478477" cy="11468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9B2F513D-3DC5-919E-34C9-6398C889E84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94881" y="4024607"/>
            <a:ext cx="2779648" cy="134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760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"/>
          <p:cNvSpPr txBox="1"/>
          <p:nvPr/>
        </p:nvSpPr>
        <p:spPr>
          <a:xfrm>
            <a:off x="0" y="6581001"/>
            <a:ext cx="97276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2"/>
          <p:cNvSpPr txBox="1"/>
          <p:nvPr/>
        </p:nvSpPr>
        <p:spPr>
          <a:xfrm>
            <a:off x="2757652" y="122889"/>
            <a:ext cx="6676697" cy="832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 rtl="1">
              <a:lnSpc>
                <a:spcPct val="90000"/>
              </a:lnSpc>
              <a:buClr>
                <a:schemeClr val="dk1"/>
              </a:buClr>
              <a:buSzPts val="2400"/>
            </a:pPr>
            <a:r>
              <a:rPr lang="ar-AE" sz="2400" b="1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أكتوبر 2026 – ملخص الأداء الشهري</a:t>
            </a:r>
            <a:endParaRPr sz="1800" b="0" i="0" u="none" strike="noStrike" cap="none" dirty="0">
              <a:solidFill>
                <a:srgbClr val="A9925F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-237517" y="7179001"/>
            <a:ext cx="11141498" cy="5347623"/>
          </a:xfrm>
          <a:prstGeom prst="roundRect">
            <a:avLst>
              <a:gd name="adj" fmla="val 3487"/>
            </a:avLst>
          </a:prstGeom>
          <a:solidFill>
            <a:srgbClr val="A9925F">
              <a:alpha val="7450"/>
            </a:srgbClr>
          </a:solidFill>
          <a:ln w="9525" cap="flat" cmpd="sng">
            <a:solidFill>
              <a:srgbClr val="A9925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9" name="Google Shape;249;p12"/>
          <p:cNvGraphicFramePr/>
          <p:nvPr>
            <p:extLst>
              <p:ext uri="{D42A27DB-BD31-4B8C-83A1-F6EECF244321}">
                <p14:modId xmlns:p14="http://schemas.microsoft.com/office/powerpoint/2010/main" val="51034418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66411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"/>
          <p:cNvSpPr txBox="1"/>
          <p:nvPr/>
        </p:nvSpPr>
        <p:spPr>
          <a:xfrm>
            <a:off x="0" y="6581001"/>
            <a:ext cx="97276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2757652" y="88026"/>
            <a:ext cx="6676697" cy="832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ar-AE" sz="2400" b="1" i="0" u="none" strike="noStrike" cap="none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سبتمبر 2026 – ملخص الأداء الشهري</a:t>
            </a:r>
            <a:endParaRPr sz="1800" b="0" i="0" u="none" strike="noStrike" cap="none" dirty="0">
              <a:solidFill>
                <a:srgbClr val="A9925F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-237517" y="7179001"/>
            <a:ext cx="11141498" cy="5347623"/>
          </a:xfrm>
          <a:prstGeom prst="roundRect">
            <a:avLst>
              <a:gd name="adj" fmla="val 3487"/>
            </a:avLst>
          </a:prstGeom>
          <a:solidFill>
            <a:srgbClr val="A9925F">
              <a:alpha val="7450"/>
            </a:srgbClr>
          </a:solidFill>
          <a:ln w="9525" cap="flat" cmpd="sng">
            <a:solidFill>
              <a:srgbClr val="A9925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7" name="Google Shape;257;p13"/>
          <p:cNvGraphicFramePr/>
          <p:nvPr>
            <p:extLst>
              <p:ext uri="{D42A27DB-BD31-4B8C-83A1-F6EECF244321}">
                <p14:modId xmlns:p14="http://schemas.microsoft.com/office/powerpoint/2010/main" val="260364063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57341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479</Words>
  <Application>Microsoft Office PowerPoint</Application>
  <PresentationFormat>Custom</PresentationFormat>
  <Paragraphs>43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Play</vt:lpstr>
      <vt:lpstr>Calibri</vt:lpstr>
      <vt:lpstr>Alexandria</vt:lpstr>
      <vt:lpstr>Office Theme</vt:lpstr>
      <vt:lpstr>أحدث تقرير شهري – مشروع ماليزيا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أحدث تقرير شهري – ألمانيا</dc:title>
  <dc:creator>Khushboo Kumari</dc:creator>
  <cp:lastModifiedBy>Mahmudur Rashid</cp:lastModifiedBy>
  <cp:revision>29</cp:revision>
  <dcterms:modified xsi:type="dcterms:W3CDTF">2026-10-15T08:35:42Z</dcterms:modified>
</cp:coreProperties>
</file>